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notesSlides/notesSlide2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30.xml" ContentType="application/vnd.openxmlformats-officedocument.presentationml.notesSlide+xml"/>
  <Override PartName="/ppt/charts/chart5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9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1" r:id="rId30"/>
    <p:sldId id="284" r:id="rId31"/>
    <p:sldId id="285" r:id="rId32"/>
    <p:sldId id="293" r:id="rId33"/>
    <p:sldId id="287" r:id="rId34"/>
    <p:sldId id="288" r:id="rId35"/>
    <p:sldId id="271" r:id="rId36"/>
    <p:sldId id="286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8F1C920-1615-47E9-8C91-76370270C9D6}">
          <p14:sldIdLst>
            <p14:sldId id="256"/>
            <p14:sldId id="257"/>
          </p14:sldIdLst>
        </p14:section>
        <p14:section name="1 Motivation" id="{05D13269-F762-F87A-85CF-F00CB8A8597A}">
          <p14:sldIdLst>
            <p14:sldId id="290"/>
            <p14:sldId id="258"/>
            <p14:sldId id="259"/>
            <p14:sldId id="260"/>
          </p14:sldIdLst>
        </p14:section>
        <p14:section name="2 Background" id="{C4041F94-C555-690B-6A79-8A55C242EAC3}">
          <p14:sldIdLst>
            <p14:sldId id="261"/>
            <p14:sldId id="262"/>
            <p14:sldId id="263"/>
            <p14:sldId id="264"/>
          </p14:sldIdLst>
        </p14:section>
        <p14:section name="3 Approach" id="{8DC6DD20-99CA-693F-944B-3C04BCFDFB74}">
          <p14:sldIdLst>
            <p14:sldId id="265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4 Evaluation" id="{11D5C906-5552-C4A6-9DE4-A6FA62FB06AF}">
          <p14:sldIdLst>
            <p14:sldId id="278"/>
            <p14:sldId id="279"/>
            <p14:sldId id="280"/>
            <p14:sldId id="281"/>
            <p14:sldId id="282"/>
            <p14:sldId id="283"/>
            <p14:sldId id="291"/>
            <p14:sldId id="284"/>
          </p14:sldIdLst>
        </p14:section>
        <p14:section name="5 Wrap-up" id="{C892B6A9-9E25-7160-6B7C-0B45877F5127}">
          <p14:sldIdLst>
            <p14:sldId id="285"/>
            <p14:sldId id="293"/>
            <p14:sldId id="287"/>
            <p14:sldId id="288"/>
            <p14:sldId id="271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A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6432" autoAdjust="0"/>
  </p:normalViewPr>
  <p:slideViewPr>
    <p:cSldViewPr snapToGrid="0" snapToObjects="1">
      <p:cViewPr varScale="1">
        <p:scale>
          <a:sx n="46" d="100"/>
          <a:sy n="46" d="100"/>
        </p:scale>
        <p:origin x="20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mitha chandrakumar" userId="703bb4b1c810658b" providerId="LiveId" clId="{5F7B33B5-D67A-4E37-8A69-CF4CBAC35C3D}"/>
    <pc:docChg chg="custSel modSld">
      <pc:chgData name="sushmitha chandrakumar" userId="703bb4b1c810658b" providerId="LiveId" clId="{5F7B33B5-D67A-4E37-8A69-CF4CBAC35C3D}" dt="2026-10-30T10:50:23.543" v="71" actId="368"/>
      <pc:docMkLst>
        <pc:docMk/>
      </pc:docMkLst>
      <pc:sldChg chg="modNotes">
        <pc:chgData name="sushmitha chandrakumar" userId="703bb4b1c810658b" providerId="LiveId" clId="{5F7B33B5-D67A-4E37-8A69-CF4CBAC35C3D}" dt="2026-10-30T10:50:23.361" v="1" actId="368"/>
        <pc:sldMkLst>
          <pc:docMk/>
          <pc:sldMk cId="0" sldId="256"/>
        </pc:sldMkLst>
      </pc:sldChg>
      <pc:sldChg chg="modNotes">
        <pc:chgData name="sushmitha chandrakumar" userId="703bb4b1c810658b" providerId="LiveId" clId="{5F7B33B5-D67A-4E37-8A69-CF4CBAC35C3D}" dt="2026-10-30T10:50:23.377" v="3" actId="368"/>
        <pc:sldMkLst>
          <pc:docMk/>
          <pc:sldMk cId="0" sldId="257"/>
        </pc:sldMkLst>
      </pc:sldChg>
      <pc:sldChg chg="modNotes">
        <pc:chgData name="sushmitha chandrakumar" userId="703bb4b1c810658b" providerId="LiveId" clId="{5F7B33B5-D67A-4E37-8A69-CF4CBAC35C3D}" dt="2026-10-30T10:50:23.393" v="7" actId="368"/>
        <pc:sldMkLst>
          <pc:docMk/>
          <pc:sldMk cId="0" sldId="258"/>
        </pc:sldMkLst>
      </pc:sldChg>
      <pc:sldChg chg="modNotes">
        <pc:chgData name="sushmitha chandrakumar" userId="703bb4b1c810658b" providerId="LiveId" clId="{5F7B33B5-D67A-4E37-8A69-CF4CBAC35C3D}" dt="2026-10-30T10:50:23.401" v="9" actId="368"/>
        <pc:sldMkLst>
          <pc:docMk/>
          <pc:sldMk cId="0" sldId="259"/>
        </pc:sldMkLst>
      </pc:sldChg>
      <pc:sldChg chg="modNotes">
        <pc:chgData name="sushmitha chandrakumar" userId="703bb4b1c810658b" providerId="LiveId" clId="{5F7B33B5-D67A-4E37-8A69-CF4CBAC35C3D}" dt="2026-10-30T10:50:23.409" v="11" actId="368"/>
        <pc:sldMkLst>
          <pc:docMk/>
          <pc:sldMk cId="0" sldId="260"/>
        </pc:sldMkLst>
      </pc:sldChg>
      <pc:sldChg chg="modNotes">
        <pc:chgData name="sushmitha chandrakumar" userId="703bb4b1c810658b" providerId="LiveId" clId="{5F7B33B5-D67A-4E37-8A69-CF4CBAC35C3D}" dt="2026-10-30T10:50:23.416" v="13" actId="368"/>
        <pc:sldMkLst>
          <pc:docMk/>
          <pc:sldMk cId="0" sldId="261"/>
        </pc:sldMkLst>
      </pc:sldChg>
      <pc:sldChg chg="modNotes">
        <pc:chgData name="sushmitha chandrakumar" userId="703bb4b1c810658b" providerId="LiveId" clId="{5F7B33B5-D67A-4E37-8A69-CF4CBAC35C3D}" dt="2026-10-30T10:50:23.424" v="15" actId="368"/>
        <pc:sldMkLst>
          <pc:docMk/>
          <pc:sldMk cId="0" sldId="262"/>
        </pc:sldMkLst>
      </pc:sldChg>
      <pc:sldChg chg="modNotes">
        <pc:chgData name="sushmitha chandrakumar" userId="703bb4b1c810658b" providerId="LiveId" clId="{5F7B33B5-D67A-4E37-8A69-CF4CBAC35C3D}" dt="2026-10-30T10:50:23.431" v="17" actId="368"/>
        <pc:sldMkLst>
          <pc:docMk/>
          <pc:sldMk cId="0" sldId="263"/>
        </pc:sldMkLst>
      </pc:sldChg>
      <pc:sldChg chg="modNotes">
        <pc:chgData name="sushmitha chandrakumar" userId="703bb4b1c810658b" providerId="LiveId" clId="{5F7B33B5-D67A-4E37-8A69-CF4CBAC35C3D}" dt="2026-10-30T10:50:23.436" v="19" actId="368"/>
        <pc:sldMkLst>
          <pc:docMk/>
          <pc:sldMk cId="0" sldId="264"/>
        </pc:sldMkLst>
      </pc:sldChg>
      <pc:sldChg chg="modNotes">
        <pc:chgData name="sushmitha chandrakumar" userId="703bb4b1c810658b" providerId="LiveId" clId="{5F7B33B5-D67A-4E37-8A69-CF4CBAC35C3D}" dt="2026-10-30T10:50:23.442" v="21" actId="368"/>
        <pc:sldMkLst>
          <pc:docMk/>
          <pc:sldMk cId="0" sldId="265"/>
        </pc:sldMkLst>
      </pc:sldChg>
      <pc:sldChg chg="modNotes">
        <pc:chgData name="sushmitha chandrakumar" userId="703bb4b1c810658b" providerId="LiveId" clId="{5F7B33B5-D67A-4E37-8A69-CF4CBAC35C3D}" dt="2026-10-30T10:50:23.448" v="23" actId="368"/>
        <pc:sldMkLst>
          <pc:docMk/>
          <pc:sldMk cId="0" sldId="266"/>
        </pc:sldMkLst>
      </pc:sldChg>
      <pc:sldChg chg="modNotes">
        <pc:chgData name="sushmitha chandrakumar" userId="703bb4b1c810658b" providerId="LiveId" clId="{5F7B33B5-D67A-4E37-8A69-CF4CBAC35C3D}" dt="2026-10-30T10:50:23.455" v="25" actId="368"/>
        <pc:sldMkLst>
          <pc:docMk/>
          <pc:sldMk cId="0" sldId="267"/>
        </pc:sldMkLst>
      </pc:sldChg>
      <pc:sldChg chg="modNotes">
        <pc:chgData name="sushmitha chandrakumar" userId="703bb4b1c810658b" providerId="LiveId" clId="{5F7B33B5-D67A-4E37-8A69-CF4CBAC35C3D}" dt="2026-10-30T10:50:23.462" v="27" actId="368"/>
        <pc:sldMkLst>
          <pc:docMk/>
          <pc:sldMk cId="0" sldId="268"/>
        </pc:sldMkLst>
      </pc:sldChg>
      <pc:sldChg chg="modNotes">
        <pc:chgData name="sushmitha chandrakumar" userId="703bb4b1c810658b" providerId="LiveId" clId="{5F7B33B5-D67A-4E37-8A69-CF4CBAC35C3D}" dt="2026-10-30T10:50:23.468" v="29" actId="368"/>
        <pc:sldMkLst>
          <pc:docMk/>
          <pc:sldMk cId="0" sldId="269"/>
        </pc:sldMkLst>
      </pc:sldChg>
      <pc:sldChg chg="modNotes">
        <pc:chgData name="sushmitha chandrakumar" userId="703bb4b1c810658b" providerId="LiveId" clId="{5F7B33B5-D67A-4E37-8A69-CF4CBAC35C3D}" dt="2026-10-30T10:50:23.474" v="31" actId="368"/>
        <pc:sldMkLst>
          <pc:docMk/>
          <pc:sldMk cId="0" sldId="270"/>
        </pc:sldMkLst>
      </pc:sldChg>
      <pc:sldChg chg="modNotes">
        <pc:chgData name="sushmitha chandrakumar" userId="703bb4b1c810658b" providerId="LiveId" clId="{5F7B33B5-D67A-4E37-8A69-CF4CBAC35C3D}" dt="2026-10-30T10:50:23.540" v="69" actId="368"/>
        <pc:sldMkLst>
          <pc:docMk/>
          <pc:sldMk cId="0" sldId="271"/>
        </pc:sldMkLst>
      </pc:sldChg>
      <pc:sldChg chg="modNotes">
        <pc:chgData name="sushmitha chandrakumar" userId="703bb4b1c810658b" providerId="LiveId" clId="{5F7B33B5-D67A-4E37-8A69-CF4CBAC35C3D}" dt="2026-10-30T10:50:23.480" v="33" actId="368"/>
        <pc:sldMkLst>
          <pc:docMk/>
          <pc:sldMk cId="0" sldId="272"/>
        </pc:sldMkLst>
      </pc:sldChg>
      <pc:sldChg chg="modNotes">
        <pc:chgData name="sushmitha chandrakumar" userId="703bb4b1c810658b" providerId="LiveId" clId="{5F7B33B5-D67A-4E37-8A69-CF4CBAC35C3D}" dt="2026-10-30T10:50:23.484" v="35" actId="368"/>
        <pc:sldMkLst>
          <pc:docMk/>
          <pc:sldMk cId="0" sldId="273"/>
        </pc:sldMkLst>
      </pc:sldChg>
      <pc:sldChg chg="modNotes">
        <pc:chgData name="sushmitha chandrakumar" userId="703bb4b1c810658b" providerId="LiveId" clId="{5F7B33B5-D67A-4E37-8A69-CF4CBAC35C3D}" dt="2026-10-30T10:50:23.488" v="37" actId="368"/>
        <pc:sldMkLst>
          <pc:docMk/>
          <pc:sldMk cId="0" sldId="274"/>
        </pc:sldMkLst>
      </pc:sldChg>
      <pc:sldChg chg="modNotes">
        <pc:chgData name="sushmitha chandrakumar" userId="703bb4b1c810658b" providerId="LiveId" clId="{5F7B33B5-D67A-4E37-8A69-CF4CBAC35C3D}" dt="2026-10-30T10:50:23.491" v="39" actId="368"/>
        <pc:sldMkLst>
          <pc:docMk/>
          <pc:sldMk cId="0" sldId="275"/>
        </pc:sldMkLst>
      </pc:sldChg>
      <pc:sldChg chg="modNotes">
        <pc:chgData name="sushmitha chandrakumar" userId="703bb4b1c810658b" providerId="LiveId" clId="{5F7B33B5-D67A-4E37-8A69-CF4CBAC35C3D}" dt="2026-10-30T10:50:23.494" v="41" actId="368"/>
        <pc:sldMkLst>
          <pc:docMk/>
          <pc:sldMk cId="0" sldId="276"/>
        </pc:sldMkLst>
      </pc:sldChg>
      <pc:sldChg chg="modNotes">
        <pc:chgData name="sushmitha chandrakumar" userId="703bb4b1c810658b" providerId="LiveId" clId="{5F7B33B5-D67A-4E37-8A69-CF4CBAC35C3D}" dt="2026-10-30T10:50:23.497" v="43" actId="368"/>
        <pc:sldMkLst>
          <pc:docMk/>
          <pc:sldMk cId="0" sldId="277"/>
        </pc:sldMkLst>
      </pc:sldChg>
      <pc:sldChg chg="modNotes">
        <pc:chgData name="sushmitha chandrakumar" userId="703bb4b1c810658b" providerId="LiveId" clId="{5F7B33B5-D67A-4E37-8A69-CF4CBAC35C3D}" dt="2026-10-30T10:50:23.500" v="45" actId="368"/>
        <pc:sldMkLst>
          <pc:docMk/>
          <pc:sldMk cId="0" sldId="278"/>
        </pc:sldMkLst>
      </pc:sldChg>
      <pc:sldChg chg="modNotes">
        <pc:chgData name="sushmitha chandrakumar" userId="703bb4b1c810658b" providerId="LiveId" clId="{5F7B33B5-D67A-4E37-8A69-CF4CBAC35C3D}" dt="2026-10-30T10:50:23.504" v="47" actId="368"/>
        <pc:sldMkLst>
          <pc:docMk/>
          <pc:sldMk cId="0" sldId="279"/>
        </pc:sldMkLst>
      </pc:sldChg>
      <pc:sldChg chg="modNotes">
        <pc:chgData name="sushmitha chandrakumar" userId="703bb4b1c810658b" providerId="LiveId" clId="{5F7B33B5-D67A-4E37-8A69-CF4CBAC35C3D}" dt="2026-10-30T10:50:23.507" v="49" actId="368"/>
        <pc:sldMkLst>
          <pc:docMk/>
          <pc:sldMk cId="0" sldId="280"/>
        </pc:sldMkLst>
      </pc:sldChg>
      <pc:sldChg chg="modNotes">
        <pc:chgData name="sushmitha chandrakumar" userId="703bb4b1c810658b" providerId="LiveId" clId="{5F7B33B5-D67A-4E37-8A69-CF4CBAC35C3D}" dt="2026-10-30T10:50:23.510" v="51" actId="368"/>
        <pc:sldMkLst>
          <pc:docMk/>
          <pc:sldMk cId="0" sldId="281"/>
        </pc:sldMkLst>
      </pc:sldChg>
      <pc:sldChg chg="modNotes">
        <pc:chgData name="sushmitha chandrakumar" userId="703bb4b1c810658b" providerId="LiveId" clId="{5F7B33B5-D67A-4E37-8A69-CF4CBAC35C3D}" dt="2026-10-30T10:50:23.512" v="53" actId="368"/>
        <pc:sldMkLst>
          <pc:docMk/>
          <pc:sldMk cId="0" sldId="282"/>
        </pc:sldMkLst>
      </pc:sldChg>
      <pc:sldChg chg="modNotes">
        <pc:chgData name="sushmitha chandrakumar" userId="703bb4b1c810658b" providerId="LiveId" clId="{5F7B33B5-D67A-4E37-8A69-CF4CBAC35C3D}" dt="2026-10-30T10:50:23.516" v="55" actId="368"/>
        <pc:sldMkLst>
          <pc:docMk/>
          <pc:sldMk cId="0" sldId="283"/>
        </pc:sldMkLst>
      </pc:sldChg>
      <pc:sldChg chg="modNotes">
        <pc:chgData name="sushmitha chandrakumar" userId="703bb4b1c810658b" providerId="LiveId" clId="{5F7B33B5-D67A-4E37-8A69-CF4CBAC35C3D}" dt="2026-10-30T10:50:23.523" v="59" actId="368"/>
        <pc:sldMkLst>
          <pc:docMk/>
          <pc:sldMk cId="0" sldId="284"/>
        </pc:sldMkLst>
      </pc:sldChg>
      <pc:sldChg chg="modNotes">
        <pc:chgData name="sushmitha chandrakumar" userId="703bb4b1c810658b" providerId="LiveId" clId="{5F7B33B5-D67A-4E37-8A69-CF4CBAC35C3D}" dt="2026-10-30T10:50:23.526" v="61" actId="368"/>
        <pc:sldMkLst>
          <pc:docMk/>
          <pc:sldMk cId="0" sldId="285"/>
        </pc:sldMkLst>
      </pc:sldChg>
      <pc:sldChg chg="modNotes">
        <pc:chgData name="sushmitha chandrakumar" userId="703bb4b1c810658b" providerId="LiveId" clId="{5F7B33B5-D67A-4E37-8A69-CF4CBAC35C3D}" dt="2026-10-30T10:50:23.543" v="71" actId="368"/>
        <pc:sldMkLst>
          <pc:docMk/>
          <pc:sldMk cId="0" sldId="286"/>
        </pc:sldMkLst>
      </pc:sldChg>
      <pc:sldChg chg="modNotes">
        <pc:chgData name="sushmitha chandrakumar" userId="703bb4b1c810658b" providerId="LiveId" clId="{5F7B33B5-D67A-4E37-8A69-CF4CBAC35C3D}" dt="2026-10-30T10:50:23.532" v="65" actId="368"/>
        <pc:sldMkLst>
          <pc:docMk/>
          <pc:sldMk cId="0" sldId="287"/>
        </pc:sldMkLst>
      </pc:sldChg>
      <pc:sldChg chg="modNotes">
        <pc:chgData name="sushmitha chandrakumar" userId="703bb4b1c810658b" providerId="LiveId" clId="{5F7B33B5-D67A-4E37-8A69-CF4CBAC35C3D}" dt="2026-10-30T10:50:23.536" v="67" actId="368"/>
        <pc:sldMkLst>
          <pc:docMk/>
          <pc:sldMk cId="0" sldId="288"/>
        </pc:sldMkLst>
      </pc:sldChg>
      <pc:sldChg chg="modNotes">
        <pc:chgData name="sushmitha chandrakumar" userId="703bb4b1c810658b" providerId="LiveId" clId="{5F7B33B5-D67A-4E37-8A69-CF4CBAC35C3D}" dt="2026-10-30T10:50:23.386" v="5" actId="368"/>
        <pc:sldMkLst>
          <pc:docMk/>
          <pc:sldMk cId="3946874566" sldId="290"/>
        </pc:sldMkLst>
      </pc:sldChg>
      <pc:sldChg chg="modNotes">
        <pc:chgData name="sushmitha chandrakumar" userId="703bb4b1c810658b" providerId="LiveId" clId="{5F7B33B5-D67A-4E37-8A69-CF4CBAC35C3D}" dt="2026-10-30T10:50:23.519" v="57" actId="368"/>
        <pc:sldMkLst>
          <pc:docMk/>
          <pc:sldMk cId="0" sldId="291"/>
        </pc:sldMkLst>
      </pc:sldChg>
      <pc:sldChg chg="modNotes">
        <pc:chgData name="sushmitha chandrakumar" userId="703bb4b1c810658b" providerId="LiveId" clId="{5F7B33B5-D67A-4E37-8A69-CF4CBAC35C3D}" dt="2026-10-30T10:50:23.529" v="63" actId="368"/>
        <pc:sldMkLst>
          <pc:docMk/>
          <pc:sldMk cId="0" sldId="29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lang="en-US" sz="1600" b="0" i="0" u="none" strike="noStrike" dirty="0">
                <a:solidFill>
                  <a:srgbClr val="222222"/>
                </a:solidFill>
                <a:latin typeface="+mn-lt"/>
              </a:rPr>
              <a:t>Nodes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</c:v>
                </c:pt>
              </c:strCache>
            </c:strRef>
          </c:tx>
          <c:spPr>
            <a:solidFill>
              <a:srgbClr val="9A0F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Population</c:v>
                </c:pt>
                <c:pt idx="1">
                  <c:v>ClinicalCondition</c:v>
                </c:pt>
                <c:pt idx="2">
                  <c:v>Drug</c:v>
                </c:pt>
                <c:pt idx="3">
                  <c:v>Recommendation</c:v>
                </c:pt>
                <c:pt idx="4">
                  <c:v>Intervention</c:v>
                </c:pt>
                <c:pt idx="5">
                  <c:v>Table</c:v>
                </c:pt>
                <c:pt idx="6">
                  <c:v>GlycaemicTarget</c:v>
                </c:pt>
                <c:pt idx="7">
                  <c:v>MonitoringProtocol</c:v>
                </c:pt>
                <c:pt idx="8">
                  <c:v>TreatmentRecommendation</c:v>
                </c:pt>
                <c:pt idx="9">
                  <c:v>Guideline</c:v>
                </c:pt>
                <c:pt idx="10">
                  <c:v>Condition</c:v>
                </c:pt>
                <c:pt idx="11">
                  <c:v>Test</c:v>
                </c:pt>
                <c:pt idx="12">
                  <c:v>Organisation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737</c:v>
                </c:pt>
                <c:pt idx="1">
                  <c:v>462</c:v>
                </c:pt>
                <c:pt idx="2">
                  <c:v>438</c:v>
                </c:pt>
                <c:pt idx="3">
                  <c:v>330</c:v>
                </c:pt>
                <c:pt idx="4">
                  <c:v>305</c:v>
                </c:pt>
                <c:pt idx="5">
                  <c:v>139</c:v>
                </c:pt>
                <c:pt idx="6">
                  <c:v>46</c:v>
                </c:pt>
                <c:pt idx="7">
                  <c:v>14</c:v>
                </c:pt>
                <c:pt idx="8">
                  <c:v>10</c:v>
                </c:pt>
                <c:pt idx="9">
                  <c:v>8</c:v>
                </c:pt>
                <c:pt idx="10">
                  <c:v>5</c:v>
                </c:pt>
                <c:pt idx="11">
                  <c:v>5</c:v>
                </c:pt>
                <c:pt idx="1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DC-412D-9E56-DFB76FBD7D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lang="en-US" sz="1600" b="0" i="0" u="none" strike="noStrike" dirty="0">
                <a:solidFill>
                  <a:srgbClr val="222222"/>
                </a:solidFill>
                <a:latin typeface="+mn-lt"/>
              </a:rPr>
              <a:t>Questions by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lang="en-US" sz="1600" b="0" i="0" u="none" strike="noStrike" dirty="0">
                <a:solidFill>
                  <a:srgbClr val="222222"/>
                </a:solidFill>
                <a:latin typeface="+mn-lt"/>
              </a:rPr>
              <a:t>By question type (1,289 questions)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question type (1,289 questions)</c:v>
                </c:pt>
              </c:strCache>
            </c:strRef>
          </c:tx>
          <c:spPr>
            <a:solidFill>
              <a:srgbClr val="9A0F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which  52.4%</c:v>
                </c:pt>
                <c:pt idx="1">
                  <c:v>how  21.2%</c:v>
                </c:pt>
                <c:pt idx="2">
                  <c:v>what  18.1%</c:v>
                </c:pt>
                <c:pt idx="3">
                  <c:v>yes/no  8.3%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676</c:v>
                </c:pt>
                <c:pt idx="1">
                  <c:v>273</c:v>
                </c:pt>
                <c:pt idx="2">
                  <c:v>233</c:v>
                </c:pt>
                <c:pt idx="3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F5-45F8-9A3C-008E2B371E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lang="en-US" sz="1600" b="0" i="0" u="none" strike="noStrike">
                <a:solidFill>
                  <a:srgbClr val="222222"/>
                </a:solidFill>
                <a:latin typeface="+mn-lt"/>
              </a:rPr>
              <a:t>By generation method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generation method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222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grounded prompt  69.7%</c:v>
                </c:pt>
                <c:pt idx="1">
                  <c:v>vignette  20.6%</c:v>
                </c:pt>
                <c:pt idx="2">
                  <c:v>template paraphrase  9.7%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899</c:v>
                </c:pt>
                <c:pt idx="1">
                  <c:v>265</c:v>
                </c:pt>
                <c:pt idx="2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71-47B6-B25E-5406C637A4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22222"/>
                </a:solidFill>
                <a:latin typeface="+mn-lt"/>
              </a:defRPr>
            </a:pPr>
            <a:r>
              <a:rPr lang="en-US" sz="1600" b="0" i="0" u="none" strike="noStrike" dirty="0">
                <a:solidFill>
                  <a:srgbClr val="222222"/>
                </a:solidFill>
                <a:latin typeface="+mn-lt"/>
              </a:rPr>
              <a:t>30 questions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Review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67-4A48-B996-1D522C6BB506}"/>
              </c:ext>
            </c:extLst>
          </c:dPt>
          <c:dPt>
            <c:idx val="1"/>
            <c:bubble3D val="0"/>
            <c:spPr>
              <a:solidFill>
                <a:srgbClr val="9A0F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67-4A48-B996-1D522C6BB506}"/>
              </c:ext>
            </c:extLst>
          </c:dPt>
          <c:dPt>
            <c:idx val="2"/>
            <c:bubble3D val="0"/>
            <c:spPr>
              <a:solidFill>
                <a:srgbClr val="C98A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267-4A48-B996-1D522C6BB50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67-4A48-B996-1D522C6BB50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67-4A48-B996-1D522C6BB50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67-4A48-B996-1D522C6BB50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Accepted</c:v>
                </c:pt>
                <c:pt idx="1">
                  <c:v>Clear failure</c:v>
                </c:pt>
                <c:pt idx="2">
                  <c:v>Borderline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267-4A48-B996-1D522C6BB5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207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0434-9E0A-21BF-5981-4B16FB3E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D925A-BE96-D19B-0E3D-5E2F5FDC6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73A9D-7378-F1EE-B5CB-2640C0B48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59410-9890-7589-7F7F-D0853A95E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82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6E0A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12188952" cy="777240"/>
          </a:xfrm>
          <a:prstGeom prst="rect">
            <a:avLst/>
          </a:prstGeom>
          <a:solidFill>
            <a:srgbClr val="9A0F1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92240"/>
            <a:ext cx="2377440" cy="365760"/>
          </a:xfrm>
          <a:prstGeom prst="rect">
            <a:avLst/>
          </a:prstGeom>
          <a:solidFill>
            <a:srgbClr val="6E0A14"/>
          </a:solidFill>
          <a:ln/>
        </p:spPr>
      </p:sp>
      <p:sp>
        <p:nvSpPr>
          <p:cNvPr id="5" name="Shape 3"/>
          <p:cNvSpPr/>
          <p:nvPr/>
        </p:nvSpPr>
        <p:spPr>
          <a:xfrm>
            <a:off x="2377440" y="6492240"/>
            <a:ext cx="3200400" cy="365760"/>
          </a:xfrm>
          <a:prstGeom prst="rect">
            <a:avLst/>
          </a:prstGeom>
          <a:solidFill>
            <a:srgbClr val="9A0F1E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0" y="6492240"/>
            <a:ext cx="4937760" cy="365760"/>
          </a:xfrm>
          <a:prstGeom prst="rect">
            <a:avLst/>
          </a:prstGeom>
          <a:solidFill>
            <a:srgbClr val="6E0A1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solidFill>
            <a:srgbClr val="9A0F1E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6492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October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6492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Sushmitha Chandrakumar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6492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From Guidelines to Questions</a:t>
            </a:r>
            <a:endParaRPr lang="en-US" sz="1200" dirty="0"/>
          </a:p>
        </p:txBody>
      </p:sp>
      <p:sp>
        <p:nvSpPr>
          <p:cNvPr id="11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9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39125311_Model-Driven_Automatic_Question_Generation_for_a_Gamified_Clinical_Guideline_Training_System" TargetMode="External"/><Relationship Id="rId3" Type="http://schemas.openxmlformats.org/officeDocument/2006/relationships/hyperlink" Target="https://www.sciencedirect.com/science/article/abs/pii/S0933365719309546" TargetMode="External"/><Relationship Id="rId7" Type="http://schemas.openxmlformats.org/officeDocument/2006/relationships/hyperlink" Target="https://arxiv.org/pdf/2402.18267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310.08395" TargetMode="External"/><Relationship Id="rId5" Type="http://schemas.openxmlformats.org/officeDocument/2006/relationships/hyperlink" Target="https://arxiv.org/abs/2010.03157" TargetMode="External"/><Relationship Id="rId10" Type="http://schemas.openxmlformats.org/officeDocument/2006/relationships/hyperlink" Target="https://www.sciencedirect.com/science/article/pii/S1532046413000841" TargetMode="External"/><Relationship Id="rId4" Type="http://schemas.openxmlformats.org/officeDocument/2006/relationships/hyperlink" Target="https://www.sciencedirect.com/science/article/pii/S2666990021000410" TargetMode="External"/><Relationship Id="rId9" Type="http://schemas.openxmlformats.org/officeDocument/2006/relationships/hyperlink" Target="https://pubmed.ncbi.nlm.nih.gov/39312778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Guidelines to Questions: Knowledge Graph Construction and Question Generation from Clinical Practice Guidelines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Sushmitha Chandrakumar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Master's thesis colloquium  |  Supervisor: Prof. Dr. Michael Gertz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Heidelberg University, Institute of Computer Science, Data Science Group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Outline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 / 36</a:t>
            </a:r>
            <a:endParaRPr lang="en-US" sz="1200" dirty="0"/>
          </a:p>
        </p:txBody>
      </p:sp>
      <p:sp>
        <p:nvSpPr>
          <p:cNvPr id="35" name="Number 1"/>
          <p:cNvSpPr/>
          <p:nvPr/>
        </p:nvSpPr>
        <p:spPr>
          <a:xfrm>
            <a:off x="164592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1581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15819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Why comparing guidelines is hard, aims, contributions</a:t>
            </a:r>
            <a:endParaRPr lang="en-US" sz="1800" dirty="0"/>
          </a:p>
        </p:txBody>
      </p:sp>
      <p:sp>
        <p:nvSpPr>
          <p:cNvPr id="38" name="Number 2"/>
          <p:cNvSpPr/>
          <p:nvPr/>
        </p:nvSpPr>
        <p:spPr>
          <a:xfrm>
            <a:off x="164592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2496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24963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Knowledge graphs, LLMs and grounding, related work</a:t>
            </a:r>
            <a:endParaRPr lang="en-US" sz="1800" dirty="0"/>
          </a:p>
        </p:txBody>
      </p:sp>
      <p:sp>
        <p:nvSpPr>
          <p:cNvPr id="41" name="Number 3"/>
          <p:cNvSpPr/>
          <p:nvPr/>
        </p:nvSpPr>
        <p:spPr>
          <a:xfrm>
            <a:off x="164592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246888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Approach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5120640" y="34107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Pipeline, normalisation, question generation</a:t>
            </a:r>
            <a:endParaRPr lang="en-US" sz="1800" dirty="0"/>
          </a:p>
        </p:txBody>
      </p:sp>
      <p:sp>
        <p:nvSpPr>
          <p:cNvPr id="44" name="Number 4"/>
          <p:cNvSpPr/>
          <p:nvPr/>
        </p:nvSpPr>
        <p:spPr>
          <a:xfrm>
            <a:off x="164592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2468880" y="4325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Evaluation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5120640" y="4325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Graph, equivalence links, questions, clinical review</a:t>
            </a:r>
            <a:endParaRPr lang="en-US" sz="1800" dirty="0"/>
          </a:p>
        </p:txBody>
      </p:sp>
      <p:sp>
        <p:nvSpPr>
          <p:cNvPr id="47" name="Number 5"/>
          <p:cNvSpPr/>
          <p:nvPr/>
        </p:nvSpPr>
        <p:spPr>
          <a:xfrm>
            <a:off x="1645920" y="5303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2468880" y="5239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Wrap-up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5120640" y="52395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What it shows, limits, conclusions</a:t>
            </a:r>
            <a:endParaRPr lang="en-US" sz="1800" dirty="0"/>
          </a:p>
        </p:txBody>
      </p:sp>
      <p:sp>
        <p:nvSpPr>
          <p:cNvPr id="51" name="Dot">
            <a:extLst>
              <a:ext uri="{FF2B5EF4-FFF2-40B4-BE49-F238E27FC236}">
                <a16:creationId xmlns:a16="http://schemas.microsoft.com/office/drawing/2014/main" id="{D97E4507-91A0-51E2-C491-F737B5A95F02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4FE76E2-1F4A-B435-6194-6D07B47D5742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31" name="Nav Wrap-up"/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D9A5AB"/>
                  </a:solidFill>
                </a:rPr>
                <a:t>Wrap-up</a:t>
              </a:r>
              <a:endParaRPr lang="en-US" sz="1300" dirty="0"/>
            </a:p>
          </p:txBody>
        </p:sp>
        <p:sp>
          <p:nvSpPr>
            <p:cNvPr id="32" name="Dot"/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33" name="Dot"/>
            <p:cNvSpPr/>
            <p:nvPr/>
          </p:nvSpPr>
          <p:spPr>
            <a:xfrm>
              <a:off x="1101577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3" name="Dot">
              <a:extLst>
                <a:ext uri="{FF2B5EF4-FFF2-40B4-BE49-F238E27FC236}">
                  <a16:creationId xmlns:a16="http://schemas.microsoft.com/office/drawing/2014/main" id="{B52F22B7-1B52-7620-7039-45CC63F5BD3D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  <p:sp>
        <p:nvSpPr>
          <p:cNvPr id="55" name="Dot">
            <a:extLst>
              <a:ext uri="{FF2B5EF4-FFF2-40B4-BE49-F238E27FC236}">
                <a16:creationId xmlns:a16="http://schemas.microsoft.com/office/drawing/2014/main" id="{649A90D6-01E0-5BC2-521C-F198EB58C7FD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C51A2-2799-CE53-B6EF-915748982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>
            <a:extLst>
              <a:ext uri="{FF2B5EF4-FFF2-40B4-BE49-F238E27FC236}">
                <a16:creationId xmlns:a16="http://schemas.microsoft.com/office/drawing/2014/main" id="{BD37E909-0910-B056-3F66-DFF242C8B471}"/>
              </a:ext>
            </a:extLst>
          </p:cNvPr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Clinical practice guidelines: why they matter</a:t>
            </a:r>
            <a:endParaRPr lang="en-US" sz="3000" dirty="0"/>
          </a:p>
        </p:txBody>
      </p:sp>
      <p:sp>
        <p:nvSpPr>
          <p:cNvPr id="3" name="Nav Motivation">
            <a:extLst>
              <a:ext uri="{FF2B5EF4-FFF2-40B4-BE49-F238E27FC236}">
                <a16:creationId xmlns:a16="http://schemas.microsoft.com/office/drawing/2014/main" id="{04FCB214-D266-A574-1C90-0320A1AAF12A}"/>
              </a:ext>
            </a:extLst>
          </p:cNvPr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4" name="Dot">
            <a:extLst>
              <a:ext uri="{FF2B5EF4-FFF2-40B4-BE49-F238E27FC236}">
                <a16:creationId xmlns:a16="http://schemas.microsoft.com/office/drawing/2014/main" id="{59892439-50F6-2265-F8F7-CC911D8DCFF6}"/>
              </a:ext>
            </a:extLst>
          </p:cNvPr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>
            <a:extLst>
              <a:ext uri="{FF2B5EF4-FFF2-40B4-BE49-F238E27FC236}">
                <a16:creationId xmlns:a16="http://schemas.microsoft.com/office/drawing/2014/main" id="{0D48F623-5205-1684-DF21-B2F77AC85C48}"/>
              </a:ext>
            </a:extLst>
          </p:cNvPr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>
            <a:extLst>
              <a:ext uri="{FF2B5EF4-FFF2-40B4-BE49-F238E27FC236}">
                <a16:creationId xmlns:a16="http://schemas.microsoft.com/office/drawing/2014/main" id="{6F9C5D39-24CA-33CB-616B-40C7048F8193}"/>
              </a:ext>
            </a:extLst>
          </p:cNvPr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>
            <a:extLst>
              <a:ext uri="{FF2B5EF4-FFF2-40B4-BE49-F238E27FC236}">
                <a16:creationId xmlns:a16="http://schemas.microsoft.com/office/drawing/2014/main" id="{7BAEDF22-FCE0-63FB-53DA-8772DCEDCC51}"/>
              </a:ext>
            </a:extLst>
          </p:cNvPr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>
            <a:extLst>
              <a:ext uri="{FF2B5EF4-FFF2-40B4-BE49-F238E27FC236}">
                <a16:creationId xmlns:a16="http://schemas.microsoft.com/office/drawing/2014/main" id="{49AC9045-1F77-51A6-2C1C-946D50DC5056}"/>
              </a:ext>
            </a:extLst>
          </p:cNvPr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>
            <a:extLst>
              <a:ext uri="{FF2B5EF4-FFF2-40B4-BE49-F238E27FC236}">
                <a16:creationId xmlns:a16="http://schemas.microsoft.com/office/drawing/2014/main" id="{411DFAED-810A-D011-0DD6-22A709374BEC}"/>
              </a:ext>
            </a:extLst>
          </p:cNvPr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>
            <a:extLst>
              <a:ext uri="{FF2B5EF4-FFF2-40B4-BE49-F238E27FC236}">
                <a16:creationId xmlns:a16="http://schemas.microsoft.com/office/drawing/2014/main" id="{9729751B-F2D3-EE70-EB1C-2DEE6D5A4ECF}"/>
              </a:ext>
            </a:extLst>
          </p:cNvPr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>
            <a:extLst>
              <a:ext uri="{FF2B5EF4-FFF2-40B4-BE49-F238E27FC236}">
                <a16:creationId xmlns:a16="http://schemas.microsoft.com/office/drawing/2014/main" id="{EC849959-0D1A-46A4-AF62-DC82C8CD0F27}"/>
              </a:ext>
            </a:extLst>
          </p:cNvPr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>
            <a:extLst>
              <a:ext uri="{FF2B5EF4-FFF2-40B4-BE49-F238E27FC236}">
                <a16:creationId xmlns:a16="http://schemas.microsoft.com/office/drawing/2014/main" id="{CDCD1333-A56E-0FCA-75BF-A3C85E1B9D3C}"/>
              </a:ext>
            </a:extLst>
          </p:cNvPr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>
            <a:extLst>
              <a:ext uri="{FF2B5EF4-FFF2-40B4-BE49-F238E27FC236}">
                <a16:creationId xmlns:a16="http://schemas.microsoft.com/office/drawing/2014/main" id="{AC0E092B-19FB-E10B-5D4E-876FCB063A6C}"/>
              </a:ext>
            </a:extLst>
          </p:cNvPr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>
            <a:extLst>
              <a:ext uri="{FF2B5EF4-FFF2-40B4-BE49-F238E27FC236}">
                <a16:creationId xmlns:a16="http://schemas.microsoft.com/office/drawing/2014/main" id="{8887DA2E-34A3-505B-FFA3-AF04135B1D72}"/>
              </a:ext>
            </a:extLst>
          </p:cNvPr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>
            <a:extLst>
              <a:ext uri="{FF2B5EF4-FFF2-40B4-BE49-F238E27FC236}">
                <a16:creationId xmlns:a16="http://schemas.microsoft.com/office/drawing/2014/main" id="{83064553-1D00-201D-C404-B8425573D931}"/>
              </a:ext>
            </a:extLst>
          </p:cNvPr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>
            <a:extLst>
              <a:ext uri="{FF2B5EF4-FFF2-40B4-BE49-F238E27FC236}">
                <a16:creationId xmlns:a16="http://schemas.microsoft.com/office/drawing/2014/main" id="{2C789178-885C-E460-14CF-8E2CC6043605}"/>
              </a:ext>
            </a:extLst>
          </p:cNvPr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>
            <a:extLst>
              <a:ext uri="{FF2B5EF4-FFF2-40B4-BE49-F238E27FC236}">
                <a16:creationId xmlns:a16="http://schemas.microsoft.com/office/drawing/2014/main" id="{BBAB3F81-1C73-A885-6F7C-B6E85A81A14D}"/>
              </a:ext>
            </a:extLst>
          </p:cNvPr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>
            <a:extLst>
              <a:ext uri="{FF2B5EF4-FFF2-40B4-BE49-F238E27FC236}">
                <a16:creationId xmlns:a16="http://schemas.microsoft.com/office/drawing/2014/main" id="{9D437588-F550-018E-6864-A66DA3095ACB}"/>
              </a:ext>
            </a:extLst>
          </p:cNvPr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>
            <a:extLst>
              <a:ext uri="{FF2B5EF4-FFF2-40B4-BE49-F238E27FC236}">
                <a16:creationId xmlns:a16="http://schemas.microsoft.com/office/drawing/2014/main" id="{13064E59-0C8F-5A61-6B8A-832B056872EB}"/>
              </a:ext>
            </a:extLst>
          </p:cNvPr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>
            <a:extLst>
              <a:ext uri="{FF2B5EF4-FFF2-40B4-BE49-F238E27FC236}">
                <a16:creationId xmlns:a16="http://schemas.microsoft.com/office/drawing/2014/main" id="{E931F4D7-48EB-8C33-A431-7C500B2EBAB7}"/>
              </a:ext>
            </a:extLst>
          </p:cNvPr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>
            <a:extLst>
              <a:ext uri="{FF2B5EF4-FFF2-40B4-BE49-F238E27FC236}">
                <a16:creationId xmlns:a16="http://schemas.microsoft.com/office/drawing/2014/main" id="{3BAEA48C-702C-EE1A-C5AE-0C4C8409F825}"/>
              </a:ext>
            </a:extLst>
          </p:cNvPr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>
            <a:extLst>
              <a:ext uri="{FF2B5EF4-FFF2-40B4-BE49-F238E27FC236}">
                <a16:creationId xmlns:a16="http://schemas.microsoft.com/office/drawing/2014/main" id="{62BCA267-523E-97CF-7547-7FCFB784D87C}"/>
              </a:ext>
            </a:extLst>
          </p:cNvPr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>
            <a:extLst>
              <a:ext uri="{FF2B5EF4-FFF2-40B4-BE49-F238E27FC236}">
                <a16:creationId xmlns:a16="http://schemas.microsoft.com/office/drawing/2014/main" id="{BE1598CB-DA72-20D2-2875-4C996DDCEC7E}"/>
              </a:ext>
            </a:extLst>
          </p:cNvPr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>
            <a:extLst>
              <a:ext uri="{FF2B5EF4-FFF2-40B4-BE49-F238E27FC236}">
                <a16:creationId xmlns:a16="http://schemas.microsoft.com/office/drawing/2014/main" id="{A34A97C9-F94E-52CA-4F4E-D4760080A7A3}"/>
              </a:ext>
            </a:extLst>
          </p:cNvPr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>
            <a:extLst>
              <a:ext uri="{FF2B5EF4-FFF2-40B4-BE49-F238E27FC236}">
                <a16:creationId xmlns:a16="http://schemas.microsoft.com/office/drawing/2014/main" id="{D68D123D-BC4B-91DB-3E7A-E2CB7B4D19FA}"/>
              </a:ext>
            </a:extLst>
          </p:cNvPr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>
            <a:extLst>
              <a:ext uri="{FF2B5EF4-FFF2-40B4-BE49-F238E27FC236}">
                <a16:creationId xmlns:a16="http://schemas.microsoft.com/office/drawing/2014/main" id="{7251F87A-4DD7-1026-CCD0-6A8B9A7B7F4C}"/>
              </a:ext>
            </a:extLst>
          </p:cNvPr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>
            <a:extLst>
              <a:ext uri="{FF2B5EF4-FFF2-40B4-BE49-F238E27FC236}">
                <a16:creationId xmlns:a16="http://schemas.microsoft.com/office/drawing/2014/main" id="{4F213172-043C-7C9D-EFF5-14209A74B811}"/>
              </a:ext>
            </a:extLst>
          </p:cNvPr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>
            <a:extLst>
              <a:ext uri="{FF2B5EF4-FFF2-40B4-BE49-F238E27FC236}">
                <a16:creationId xmlns:a16="http://schemas.microsoft.com/office/drawing/2014/main" id="{499CC5F1-EBF5-7005-8DAA-B60C23EB89EE}"/>
              </a:ext>
            </a:extLst>
          </p:cNvPr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>
            <a:extLst>
              <a:ext uri="{FF2B5EF4-FFF2-40B4-BE49-F238E27FC236}">
                <a16:creationId xmlns:a16="http://schemas.microsoft.com/office/drawing/2014/main" id="{F83A51EB-B6C5-E8D4-06CE-C178988D3D65}"/>
              </a:ext>
            </a:extLst>
          </p:cNvPr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>
            <a:extLst>
              <a:ext uri="{FF2B5EF4-FFF2-40B4-BE49-F238E27FC236}">
                <a16:creationId xmlns:a16="http://schemas.microsoft.com/office/drawing/2014/main" id="{45DF9AE8-25FC-7851-C4B3-882FFE69CE0D}"/>
              </a:ext>
            </a:extLst>
          </p:cNvPr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>
            <a:extLst>
              <a:ext uri="{FF2B5EF4-FFF2-40B4-BE49-F238E27FC236}">
                <a16:creationId xmlns:a16="http://schemas.microsoft.com/office/drawing/2014/main" id="{0478EF0C-02B1-B47E-561F-426C4D396116}"/>
              </a:ext>
            </a:extLst>
          </p:cNvPr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>
            <a:extLst>
              <a:ext uri="{FF2B5EF4-FFF2-40B4-BE49-F238E27FC236}">
                <a16:creationId xmlns:a16="http://schemas.microsoft.com/office/drawing/2014/main" id="{E4810755-2E35-DF64-04D6-05FC98D81B59}"/>
              </a:ext>
            </a:extLst>
          </p:cNvPr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>
            <a:extLst>
              <a:ext uri="{FF2B5EF4-FFF2-40B4-BE49-F238E27FC236}">
                <a16:creationId xmlns:a16="http://schemas.microsoft.com/office/drawing/2014/main" id="{31B39C4F-CDBC-1253-54D1-802535C88B80}"/>
              </a:ext>
            </a:extLst>
          </p:cNvPr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>
            <a:extLst>
              <a:ext uri="{FF2B5EF4-FFF2-40B4-BE49-F238E27FC236}">
                <a16:creationId xmlns:a16="http://schemas.microsoft.com/office/drawing/2014/main" id="{DB1015CD-F972-C618-9287-4FA4139879DF}"/>
              </a:ext>
            </a:extLst>
          </p:cNvPr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 / 36</a:t>
            </a:r>
            <a:endParaRPr 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C39C6E-0499-9F72-68C3-B95BBCADF32A}"/>
              </a:ext>
            </a:extLst>
          </p:cNvPr>
          <p:cNvSpPr txBox="1"/>
          <p:nvPr/>
        </p:nvSpPr>
        <p:spPr>
          <a:xfrm>
            <a:off x="352250" y="1417320"/>
            <a:ext cx="533074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Clinical Practice Guidelines </a:t>
            </a:r>
            <a:r>
              <a:rPr lang="en-US" sz="2200" dirty="0"/>
              <a:t>= </a:t>
            </a:r>
            <a:r>
              <a:rPr lang="en-US" sz="2200" b="1" dirty="0">
                <a:solidFill>
                  <a:schemeClr val="accent1"/>
                </a:solidFill>
              </a:rPr>
              <a:t>evidence-based</a:t>
            </a:r>
            <a:r>
              <a:rPr lang="en-US" sz="2200" dirty="0"/>
              <a:t> recommendations for </a:t>
            </a:r>
            <a:r>
              <a:rPr lang="en-US" sz="2200" b="1" dirty="0">
                <a:solidFill>
                  <a:schemeClr val="accent1"/>
                </a:solidFill>
              </a:rPr>
              <a:t>diagnosis, treatment, targets </a:t>
            </a:r>
            <a:r>
              <a:rPr lang="en-US" sz="2200" dirty="0"/>
              <a:t>and </a:t>
            </a:r>
            <a:r>
              <a:rPr lang="en-US" sz="2200" b="1" dirty="0">
                <a:solidFill>
                  <a:schemeClr val="accent1"/>
                </a:solidFill>
              </a:rPr>
              <a:t>monitoring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Published by different </a:t>
            </a:r>
            <a:r>
              <a:rPr lang="en-US" sz="2200" b="1" dirty="0">
                <a:solidFill>
                  <a:schemeClr val="accent1"/>
                </a:solidFill>
              </a:rPr>
              <a:t>professional</a:t>
            </a:r>
            <a:r>
              <a:rPr lang="en-US" sz="2200" dirty="0"/>
              <a:t> and </a:t>
            </a:r>
            <a:r>
              <a:rPr lang="en-US" sz="2200" b="1" dirty="0">
                <a:solidFill>
                  <a:schemeClr val="accent1"/>
                </a:solidFill>
              </a:rPr>
              <a:t>national</a:t>
            </a:r>
            <a:r>
              <a:rPr lang="en-US" sz="2200" dirty="0"/>
              <a:t> organizations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Goal</a:t>
            </a:r>
            <a:r>
              <a:rPr lang="en-US" sz="2200" dirty="0"/>
              <a:t>: better care and less unjustified variation in practice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Many </a:t>
            </a:r>
            <a:r>
              <a:rPr lang="en-US" sz="2200" b="1" dirty="0">
                <a:solidFill>
                  <a:schemeClr val="accent1"/>
                </a:solidFill>
              </a:rPr>
              <a:t>grade</a:t>
            </a:r>
            <a:r>
              <a:rPr lang="en-US" sz="2200" dirty="0"/>
              <a:t> their evidence and </a:t>
            </a:r>
            <a:r>
              <a:rPr lang="en-US" sz="2200" b="1" dirty="0">
                <a:solidFill>
                  <a:schemeClr val="accent1"/>
                </a:solidFill>
              </a:rPr>
              <a:t>recommendation strength </a:t>
            </a:r>
            <a:r>
              <a:rPr lang="en-US" sz="2200" dirty="0"/>
              <a:t>(e.g. </a:t>
            </a:r>
            <a:r>
              <a:rPr lang="en-US" sz="2200" b="1" dirty="0">
                <a:solidFill>
                  <a:schemeClr val="accent1"/>
                </a:solidFill>
              </a:rPr>
              <a:t>GRADE</a:t>
            </a:r>
            <a:r>
              <a:rPr lang="en-US" sz="2200" dirty="0"/>
              <a:t>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Written for </a:t>
            </a:r>
            <a:r>
              <a:rPr lang="en-US" sz="2200" b="1" dirty="0">
                <a:solidFill>
                  <a:schemeClr val="accent1"/>
                </a:solidFill>
              </a:rPr>
              <a:t>clinicians to read</a:t>
            </a:r>
            <a:r>
              <a:rPr lang="en-US" sz="2200" dirty="0"/>
              <a:t>, not for </a:t>
            </a:r>
            <a:r>
              <a:rPr lang="en-US" sz="2200" b="1" dirty="0">
                <a:solidFill>
                  <a:schemeClr val="accent1"/>
                </a:solidFill>
              </a:rPr>
              <a:t>software to parse</a:t>
            </a:r>
            <a:endParaRPr lang="en-US" sz="2200" dirty="0"/>
          </a:p>
        </p:txBody>
      </p:sp>
      <p:pic>
        <p:nvPicPr>
          <p:cNvPr id="52" name="Picture 51" descr="Europa Donna - European Breast Cancer Coalition">
            <a:extLst>
              <a:ext uri="{FF2B5EF4-FFF2-40B4-BE49-F238E27FC236}">
                <a16:creationId xmlns:a16="http://schemas.microsoft.com/office/drawing/2014/main" id="{47A39951-7171-E025-8D30-B3000766F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924" y="3151643"/>
            <a:ext cx="954829" cy="1486007"/>
          </a:xfrm>
          <a:prstGeom prst="rect">
            <a:avLst/>
          </a:prstGeom>
        </p:spPr>
      </p:pic>
      <p:pic>
        <p:nvPicPr>
          <p:cNvPr id="53" name="Picture 52" descr="Arbeitsgemeinschaft der Wissenschaftlichen Medizinischen Fachgesellschaften – Wikipedia">
            <a:extLst>
              <a:ext uri="{FF2B5EF4-FFF2-40B4-BE49-F238E27FC236}">
                <a16:creationId xmlns:a16="http://schemas.microsoft.com/office/drawing/2014/main" id="{36618212-877F-B1C4-84C5-50981F39A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286" y="2833310"/>
            <a:ext cx="2262540" cy="1257806"/>
          </a:xfrm>
          <a:prstGeom prst="rect">
            <a:avLst/>
          </a:prstGeom>
        </p:spPr>
      </p:pic>
      <p:pic>
        <p:nvPicPr>
          <p:cNvPr id="54" name="Picture 53" descr="American Cancer Society – Wikipedia">
            <a:extLst>
              <a:ext uri="{FF2B5EF4-FFF2-40B4-BE49-F238E27FC236}">
                <a16:creationId xmlns:a16="http://schemas.microsoft.com/office/drawing/2014/main" id="{3E423D61-7567-A5FE-3873-6688A23B26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167" y="1505956"/>
            <a:ext cx="2013419" cy="1112238"/>
          </a:xfrm>
          <a:prstGeom prst="rect">
            <a:avLst/>
          </a:prstGeom>
        </p:spPr>
      </p:pic>
      <p:pic>
        <p:nvPicPr>
          <p:cNvPr id="55" name="Picture 54" descr="New USPSTF Recommendation on Behavioral Interventions to Prevent STIs | HIV.gov">
            <a:extLst>
              <a:ext uri="{FF2B5EF4-FFF2-40B4-BE49-F238E27FC236}">
                <a16:creationId xmlns:a16="http://schemas.microsoft.com/office/drawing/2014/main" id="{EC64319A-EB14-1D5C-1973-7190EB82B9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510" y="3923657"/>
            <a:ext cx="2256623" cy="1037473"/>
          </a:xfrm>
          <a:prstGeom prst="rect">
            <a:avLst/>
          </a:prstGeom>
        </p:spPr>
      </p:pic>
      <p:pic>
        <p:nvPicPr>
          <p:cNvPr id="56" name="Picture 55" descr="IDF School of Diabetes">
            <a:extLst>
              <a:ext uri="{FF2B5EF4-FFF2-40B4-BE49-F238E27FC236}">
                <a16:creationId xmlns:a16="http://schemas.microsoft.com/office/drawing/2014/main" id="{7A64051E-90BE-BC70-B106-D9AF227662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8453" y="1703795"/>
            <a:ext cx="2294294" cy="932773"/>
          </a:xfrm>
          <a:prstGeom prst="rect">
            <a:avLst/>
          </a:prstGeom>
        </p:spPr>
      </p:pic>
      <p:pic>
        <p:nvPicPr>
          <p:cNvPr id="57" name="Picture 56" descr="Diabetes Canada - Wikipedia">
            <a:extLst>
              <a:ext uri="{FF2B5EF4-FFF2-40B4-BE49-F238E27FC236}">
                <a16:creationId xmlns:a16="http://schemas.microsoft.com/office/drawing/2014/main" id="{740217B1-0D57-FEC5-EEC4-BD5CA2E5BB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545" y="4598407"/>
            <a:ext cx="1592199" cy="550184"/>
          </a:xfrm>
          <a:prstGeom prst="rect">
            <a:avLst/>
          </a:prstGeom>
        </p:spPr>
      </p:pic>
      <p:pic>
        <p:nvPicPr>
          <p:cNvPr id="58" name="Picture 57" descr="American Diabetes Association - International Diabetes Federation">
            <a:extLst>
              <a:ext uri="{FF2B5EF4-FFF2-40B4-BE49-F238E27FC236}">
                <a16:creationId xmlns:a16="http://schemas.microsoft.com/office/drawing/2014/main" id="{085EC2BD-CC4A-A939-12E9-CDD8FB674C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796" y="4974642"/>
            <a:ext cx="2294294" cy="1380438"/>
          </a:xfrm>
          <a:prstGeom prst="rect">
            <a:avLst/>
          </a:prstGeom>
        </p:spPr>
      </p:pic>
      <p:pic>
        <p:nvPicPr>
          <p:cNvPr id="60" name="Picture 59" descr="25 years of helping to get the best care to people fast">
            <a:extLst>
              <a:ext uri="{FF2B5EF4-FFF2-40B4-BE49-F238E27FC236}">
                <a16:creationId xmlns:a16="http://schemas.microsoft.com/office/drawing/2014/main" id="{2B237D90-AF27-A6B4-9A95-741868E831D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0734" t="20486" r="10712" b="12111"/>
          <a:stretch>
            <a:fillRect/>
          </a:stretch>
        </p:blipFill>
        <p:spPr>
          <a:xfrm>
            <a:off x="9665541" y="5422307"/>
            <a:ext cx="2174209" cy="932773"/>
          </a:xfrm>
          <a:prstGeom prst="rect">
            <a:avLst/>
          </a:prstGeom>
        </p:spPr>
      </p:pic>
      <p:pic>
        <p:nvPicPr>
          <p:cNvPr id="61" name="Picture 60" descr="Datei:WHO logo.svg – Wikipedia">
            <a:extLst>
              <a:ext uri="{FF2B5EF4-FFF2-40B4-BE49-F238E27FC236}">
                <a16:creationId xmlns:a16="http://schemas.microsoft.com/office/drawing/2014/main" id="{496EEC55-0044-5F29-EB59-ED94E7A3B4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6279" y="2730951"/>
            <a:ext cx="1353235" cy="1396098"/>
          </a:xfrm>
          <a:prstGeom prst="rect">
            <a:avLst/>
          </a:prstGeom>
        </p:spPr>
      </p:pic>
      <p:sp>
        <p:nvSpPr>
          <p:cNvPr id="63" name="Dot">
            <a:extLst>
              <a:ext uri="{FF2B5EF4-FFF2-40B4-BE49-F238E27FC236}">
                <a16:creationId xmlns:a16="http://schemas.microsoft.com/office/drawing/2014/main" id="{8A014BCE-0EEA-6AE9-0C1B-22ACC833E60A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5" name="Dot">
            <a:extLst>
              <a:ext uri="{FF2B5EF4-FFF2-40B4-BE49-F238E27FC236}">
                <a16:creationId xmlns:a16="http://schemas.microsoft.com/office/drawing/2014/main" id="{0567DB49-CE2C-158A-BAE4-4159256763F8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7" name="Dot">
            <a:extLst>
              <a:ext uri="{FF2B5EF4-FFF2-40B4-BE49-F238E27FC236}">
                <a16:creationId xmlns:a16="http://schemas.microsoft.com/office/drawing/2014/main" id="{4EBF6776-43FD-7AC1-FE8B-B488F9F38748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4687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Same topic, four different answers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 / 36</a:t>
            </a:r>
            <a:endParaRPr lang="en-US" sz="1200" dirty="0"/>
          </a:p>
        </p:txBody>
      </p:sp>
      <p:graphicFrame>
        <p:nvGraphicFramePr>
          <p:cNvPr id="35" name="Mammograph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57042"/>
              </p:ext>
            </p:extLst>
          </p:nvPr>
        </p:nvGraphicFramePr>
        <p:xfrm>
          <a:off x="457200" y="1463040"/>
          <a:ext cx="11247120" cy="30449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Guideline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The U.S. Preventive Services Task Force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 (US)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women 40 to 74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Biennial screening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The American Cancer Society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 (US)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45 to 54; 55 and older (from 40 optional)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yearly; from 55 every 2 years or yearly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EUROPA DONNA (EU)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45 to 74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 to 3 years (45 to 49), 2 years (50 to 69), 3 years (70 to 74)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/>
                        <a:t>NHS Breast Screening </a:t>
                      </a:r>
                      <a:r>
                        <a:rPr lang="en-US" sz="1600" dirty="0" err="1"/>
                        <a:t>Programme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 (UK)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50 up to 71st birthday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every 3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Callout 1"/>
          <p:cNvSpPr/>
          <p:nvPr/>
        </p:nvSpPr>
        <p:spPr>
          <a:xfrm>
            <a:off x="457200" y="4572000"/>
            <a:ext cx="5486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685800" y="4709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Same question, </a:t>
            </a:r>
            <a:r>
              <a:rPr lang="en-US" sz="2000" b="1" dirty="0">
                <a:solidFill>
                  <a:schemeClr val="accent1"/>
                </a:solidFill>
              </a:rPr>
              <a:t>four answers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different wording, intervals, age bands</a:t>
            </a:r>
            <a:endParaRPr lang="en-US" sz="2000" dirty="0"/>
          </a:p>
        </p:txBody>
      </p:sp>
      <p:sp>
        <p:nvSpPr>
          <p:cNvPr id="38" name="Callout 2"/>
          <p:cNvSpPr/>
          <p:nvPr/>
        </p:nvSpPr>
        <p:spPr>
          <a:xfrm>
            <a:off x="6217920" y="4572000"/>
            <a:ext cx="54864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"/>
          <p:cNvSpPr txBox="1"/>
          <p:nvPr/>
        </p:nvSpPr>
        <p:spPr>
          <a:xfrm>
            <a:off x="6446520" y="47091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 our corpus: units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126 mg/dL = 7.0 mmol/L, same threshold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Illustrative example from breast cancer screening. The thesis corpus is on diabetes.</a:t>
            </a:r>
            <a:endParaRPr lang="en-US" sz="1200" dirty="0"/>
          </a:p>
        </p:txBody>
      </p:sp>
      <p:sp>
        <p:nvSpPr>
          <p:cNvPr id="42" name="Dot">
            <a:extLst>
              <a:ext uri="{FF2B5EF4-FFF2-40B4-BE49-F238E27FC236}">
                <a16:creationId xmlns:a16="http://schemas.microsoft.com/office/drawing/2014/main" id="{8AB47AF4-B044-8C07-32F5-1F57FEC9B8AB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BF59F1C-2EBD-6AE9-6EFE-DB0A26234401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31" name="Nav Wrap-up"/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D9A5AB"/>
                  </a:solidFill>
                </a:rPr>
                <a:t>Wrap-up</a:t>
              </a:r>
              <a:endParaRPr lang="en-US" sz="1300" dirty="0"/>
            </a:p>
          </p:txBody>
        </p:sp>
        <p:sp>
          <p:nvSpPr>
            <p:cNvPr id="32" name="Dot"/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44" name="Dot">
              <a:extLst>
                <a:ext uri="{FF2B5EF4-FFF2-40B4-BE49-F238E27FC236}">
                  <a16:creationId xmlns:a16="http://schemas.microsoft.com/office/drawing/2014/main" id="{4859E412-E22B-9C72-7FB7-9949BDDAE924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  <p:sp>
        <p:nvSpPr>
          <p:cNvPr id="46" name="Dot">
            <a:extLst>
              <a:ext uri="{FF2B5EF4-FFF2-40B4-BE49-F238E27FC236}">
                <a16:creationId xmlns:a16="http://schemas.microsoft.com/office/drawing/2014/main" id="{E711855C-E6CA-1959-FFD7-37359DC95DDA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Research gap and aims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 / 36</a:t>
            </a:r>
            <a:endParaRPr lang="en-US" sz="1200" dirty="0"/>
          </a:p>
        </p:txBody>
      </p:sp>
      <p:sp>
        <p:nvSpPr>
          <p:cNvPr id="35" name="Gap card"/>
          <p:cNvSpPr/>
          <p:nvPr/>
        </p:nvSpPr>
        <p:spPr>
          <a:xfrm>
            <a:off x="457200" y="150876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Gap</a:t>
            </a:r>
            <a:endParaRPr lang="en-US" sz="2600" dirty="0"/>
          </a:p>
        </p:txBody>
      </p:sp>
      <p:sp>
        <p:nvSpPr>
          <p:cNvPr id="37" name="Text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common </a:t>
            </a:r>
            <a:r>
              <a:rPr lang="en-US" sz="2200" b="1" dirty="0">
                <a:solidFill>
                  <a:schemeClr val="accent1"/>
                </a:solidFill>
              </a:rPr>
              <a:t>normalised, queryable view</a:t>
            </a:r>
            <a:r>
              <a:rPr lang="en-US" sz="2200" dirty="0">
                <a:solidFill>
                  <a:schemeClr val="tx1"/>
                </a:solidFill>
              </a:rPr>
              <a:t> across guidelines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Clinical KGs: </a:t>
            </a:r>
            <a:r>
              <a:rPr lang="en-US" sz="2200" b="1" dirty="0">
                <a:solidFill>
                  <a:schemeClr val="accent1"/>
                </a:solidFill>
              </a:rPr>
              <a:t>one source type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Question generation: </a:t>
            </a:r>
            <a:r>
              <a:rPr lang="en-US" sz="2200" b="1" dirty="0">
                <a:solidFill>
                  <a:schemeClr val="accent1"/>
                </a:solidFill>
              </a:rPr>
              <a:t>one guideline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Every fact should trace back to </a:t>
            </a:r>
            <a:r>
              <a:rPr lang="en-US" sz="2200" b="1" dirty="0">
                <a:solidFill>
                  <a:schemeClr val="accent1"/>
                </a:solidFill>
              </a:rPr>
              <a:t>organisation and page</a:t>
            </a:r>
            <a:endParaRPr lang="en-US" sz="2200" dirty="0"/>
          </a:p>
        </p:txBody>
      </p:sp>
      <p:sp>
        <p:nvSpPr>
          <p:cNvPr id="38" name="Aims card"/>
          <p:cNvSpPr/>
          <p:nvPr/>
        </p:nvSpPr>
        <p:spPr>
          <a:xfrm>
            <a:off x="6217920" y="1508760"/>
            <a:ext cx="548640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Aims</a:t>
            </a:r>
            <a:endParaRPr lang="en-US" sz="2600" dirty="0"/>
          </a:p>
        </p:txBody>
      </p:sp>
      <p:sp>
        <p:nvSpPr>
          <p:cNvPr id="40" name="Number 1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One graph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2651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different structures, terminology, units</a:t>
            </a:r>
            <a:endParaRPr lang="en-US" sz="1800" dirty="0"/>
          </a:p>
        </p:txBody>
      </p:sp>
      <p:sp>
        <p:nvSpPr>
          <p:cNvPr id="43" name="Number 2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7132320" y="3474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Explicit links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7132320" y="3886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relations across guidelines through normalisation</a:t>
            </a:r>
            <a:endParaRPr lang="en-US" sz="1800" dirty="0"/>
          </a:p>
        </p:txBody>
      </p:sp>
      <p:sp>
        <p:nvSpPr>
          <p:cNvPr id="46" name="Number 3"/>
          <p:cNvSpPr/>
          <p:nvPr/>
        </p:nvSpPr>
        <p:spPr>
          <a:xfrm>
            <a:off x="649224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7132320" y="4709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Grounded questions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0" y="5120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checked against their graph anchor</a:t>
            </a:r>
            <a:endParaRPr lang="en-US" sz="1800" dirty="0"/>
          </a:p>
        </p:txBody>
      </p:sp>
      <p:sp>
        <p:nvSpPr>
          <p:cNvPr id="50" name="Dot">
            <a:extLst>
              <a:ext uri="{FF2B5EF4-FFF2-40B4-BE49-F238E27FC236}">
                <a16:creationId xmlns:a16="http://schemas.microsoft.com/office/drawing/2014/main" id="{77C1330E-F1D2-F940-0451-89A276A82D03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3842B2D5-866A-1129-5B06-C06DF7F4B21F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0026B01B-2ED4-3017-26B4-03121261B34C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Key contributions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 / 36</a:t>
            </a:r>
            <a:endParaRPr lang="en-US" sz="1200" dirty="0"/>
          </a:p>
        </p:txBody>
      </p:sp>
      <p:sp>
        <p:nvSpPr>
          <p:cNvPr id="35" name="Contribution card"/>
          <p:cNvSpPr/>
          <p:nvPr/>
        </p:nvSpPr>
        <p:spPr>
          <a:xfrm>
            <a:off x="457200" y="1554480"/>
            <a:ext cx="55321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Number 1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1645920" y="1828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Four-stage pipeline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2697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guidelines to queryable graph to validated questions</a:t>
            </a:r>
            <a:endParaRPr lang="en-US" sz="1900" dirty="0"/>
          </a:p>
        </p:txBody>
      </p:sp>
      <p:sp>
        <p:nvSpPr>
          <p:cNvPr id="39" name="Contribution card"/>
          <p:cNvSpPr/>
          <p:nvPr/>
        </p:nvSpPr>
        <p:spPr>
          <a:xfrm>
            <a:off x="6172200" y="1554480"/>
            <a:ext cx="55321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Number 2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1828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Dual-layer extraction</a:t>
            </a:r>
            <a:endParaRPr lang="en-US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2697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rules for patterns, constrained LLM for context</a:t>
            </a:r>
            <a:endParaRPr lang="en-US" sz="1900" dirty="0"/>
          </a:p>
        </p:txBody>
      </p:sp>
      <p:sp>
        <p:nvSpPr>
          <p:cNvPr id="43" name="Contribution card"/>
          <p:cNvSpPr/>
          <p:nvPr/>
        </p:nvSpPr>
        <p:spPr>
          <a:xfrm>
            <a:off x="457200" y="3931920"/>
            <a:ext cx="55321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Number 3"/>
          <p:cNvSpPr/>
          <p:nvPr/>
        </p:nvSpPr>
        <p:spPr>
          <a:xfrm>
            <a:off x="73152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1645920" y="4206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Equivalence edges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73152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created by unit normalisation, stated by no source</a:t>
            </a:r>
            <a:endParaRPr lang="en-US" sz="1900" dirty="0"/>
          </a:p>
        </p:txBody>
      </p:sp>
      <p:sp>
        <p:nvSpPr>
          <p:cNvPr id="47" name="Contribution card"/>
          <p:cNvSpPr/>
          <p:nvPr/>
        </p:nvSpPr>
        <p:spPr>
          <a:xfrm>
            <a:off x="6172200" y="3931920"/>
            <a:ext cx="55321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Number 4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7360920" y="42062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Graph-anchored questions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6446520" y="5074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graph fixes the fact, LLM phrases it, rules validate</a:t>
            </a:r>
            <a:endParaRPr lang="en-US" sz="1900" dirty="0"/>
          </a:p>
        </p:txBody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284DCC51-C629-704B-C034-F294072ACE21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6B68F890-214A-C19C-1511-5788C9183821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6" name="Dot">
            <a:extLst>
              <a:ext uri="{FF2B5EF4-FFF2-40B4-BE49-F238E27FC236}">
                <a16:creationId xmlns:a16="http://schemas.microsoft.com/office/drawing/2014/main" id="{5DAFF2C6-0B4B-ADF8-E51C-BFE5EC653ABD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Outline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 / 36</a:t>
            </a:r>
            <a:endParaRPr lang="en-US" sz="1200" dirty="0"/>
          </a:p>
        </p:txBody>
      </p:sp>
      <p:sp>
        <p:nvSpPr>
          <p:cNvPr id="35" name="Number 1"/>
          <p:cNvSpPr/>
          <p:nvPr/>
        </p:nvSpPr>
        <p:spPr>
          <a:xfrm>
            <a:off x="1645920" y="1645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1581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15819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Why comparing guidelines is hard, aims, contributions</a:t>
            </a:r>
            <a:endParaRPr lang="en-US" sz="1800" dirty="0"/>
          </a:p>
        </p:txBody>
      </p:sp>
      <p:sp>
        <p:nvSpPr>
          <p:cNvPr id="38" name="Highlight"/>
          <p:cNvSpPr/>
          <p:nvPr/>
        </p:nvSpPr>
        <p:spPr>
          <a:xfrm>
            <a:off x="1463040" y="2441448"/>
            <a:ext cx="9235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umber 2"/>
          <p:cNvSpPr/>
          <p:nvPr/>
        </p:nvSpPr>
        <p:spPr>
          <a:xfrm>
            <a:off x="164592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2468880" y="2496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24963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Knowledge graphs, LLMs and grounding, related work</a:t>
            </a:r>
            <a:endParaRPr lang="en-US" sz="1800" dirty="0"/>
          </a:p>
        </p:txBody>
      </p:sp>
      <p:sp>
        <p:nvSpPr>
          <p:cNvPr id="42" name="Number 3"/>
          <p:cNvSpPr/>
          <p:nvPr/>
        </p:nvSpPr>
        <p:spPr>
          <a:xfrm>
            <a:off x="1645920" y="34747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246888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Approach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5120640" y="34107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Pipeline, normalisation, question generation</a:t>
            </a:r>
            <a:endParaRPr lang="en-US" sz="1800" dirty="0"/>
          </a:p>
        </p:txBody>
      </p:sp>
      <p:sp>
        <p:nvSpPr>
          <p:cNvPr id="45" name="Number 4"/>
          <p:cNvSpPr/>
          <p:nvPr/>
        </p:nvSpPr>
        <p:spPr>
          <a:xfrm>
            <a:off x="1645920" y="43891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2468880" y="4325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Evaluation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4325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Graph, equivalence links, questions, clinical review</a:t>
            </a:r>
            <a:endParaRPr lang="en-US" sz="1800" dirty="0"/>
          </a:p>
        </p:txBody>
      </p:sp>
      <p:sp>
        <p:nvSpPr>
          <p:cNvPr id="48" name="Number 5"/>
          <p:cNvSpPr/>
          <p:nvPr/>
        </p:nvSpPr>
        <p:spPr>
          <a:xfrm>
            <a:off x="1645920" y="5303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2468880" y="5239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Wrap-up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52395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What it shows, limits, conclusions</a:t>
            </a:r>
            <a:endParaRPr lang="en-US" sz="1800" dirty="0"/>
          </a:p>
        </p:txBody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F3847752-FC75-FD4E-8317-AE398F5D40D0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082E0CDF-3937-286A-C293-54ACB8773651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6" name="Dot">
            <a:extLst>
              <a:ext uri="{FF2B5EF4-FFF2-40B4-BE49-F238E27FC236}">
                <a16:creationId xmlns:a16="http://schemas.microsoft.com/office/drawing/2014/main" id="{6C45109F-5A58-AB48-E881-E86853B30FCC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Knowledge graphs and the property graph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 / 36</a:t>
            </a:r>
            <a:endParaRPr lang="en-US" sz="1200" dirty="0"/>
          </a:p>
        </p:txBody>
      </p:sp>
      <p:sp>
        <p:nvSpPr>
          <p:cNvPr id="35" name="Text"/>
          <p:cNvSpPr txBox="1"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Nodes</a:t>
            </a:r>
            <a:r>
              <a:rPr lang="en-US" sz="2400" dirty="0">
                <a:solidFill>
                  <a:schemeClr val="tx1"/>
                </a:solidFill>
              </a:rPr>
              <a:t> = entities (drug, condition, guideline)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Edges</a:t>
            </a:r>
            <a:r>
              <a:rPr lang="en-US" sz="2400" dirty="0">
                <a:solidFill>
                  <a:schemeClr val="tx1"/>
                </a:solidFill>
              </a:rPr>
              <a:t> = relations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Properties</a:t>
            </a:r>
            <a:r>
              <a:rPr lang="en-US" sz="2400" dirty="0">
                <a:solidFill>
                  <a:schemeClr val="tx1"/>
                </a:solidFill>
              </a:rPr>
              <a:t>: value, unit, source, page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Property graph: properties </a:t>
            </a:r>
            <a:r>
              <a:rPr lang="en-US" sz="2400" b="1" dirty="0">
                <a:solidFill>
                  <a:schemeClr val="accent1"/>
                </a:solidFill>
              </a:rPr>
              <a:t>on the edge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RDF: extra nodes (</a:t>
            </a:r>
            <a:r>
              <a:rPr lang="en-US" sz="2400" b="1" dirty="0">
                <a:solidFill>
                  <a:schemeClr val="accent1"/>
                </a:solidFill>
              </a:rPr>
              <a:t>reification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endParaRPr lang="en-US" sz="2400" dirty="0"/>
          </a:p>
        </p:txBody>
      </p:sp>
      <p:sp>
        <p:nvSpPr>
          <p:cNvPr id="36" name="Diagram panel"/>
          <p:cNvSpPr/>
          <p:nvPr/>
        </p:nvSpPr>
        <p:spPr>
          <a:xfrm>
            <a:off x="6309360" y="1554480"/>
            <a:ext cx="53949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Node drug"/>
          <p:cNvSpPr/>
          <p:nvPr/>
        </p:nvSpPr>
        <p:spPr>
          <a:xfrm>
            <a:off x="6583680" y="22860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DCEBE6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Drug</a:t>
            </a:r>
            <a:endParaRPr lang="en-US" sz="1800" dirty="0"/>
          </a:p>
        </p:txBody>
      </p:sp>
      <p:sp>
        <p:nvSpPr>
          <p:cNvPr id="39" name="Node condition"/>
          <p:cNvSpPr/>
          <p:nvPr/>
        </p:nvSpPr>
        <p:spPr>
          <a:xfrm>
            <a:off x="9692640" y="228600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DCEBE6"/>
          </a:solidFill>
          <a:ln w="19050">
            <a:solidFill>
              <a:srgbClr val="2E7D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9264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Condition</a:t>
            </a:r>
            <a:endParaRPr lang="en-US" sz="1800" dirty="0"/>
          </a:p>
        </p:txBody>
      </p:sp>
      <p:sp>
        <p:nvSpPr>
          <p:cNvPr id="41" name="Arrow"/>
          <p:cNvSpPr/>
          <p:nvPr/>
        </p:nvSpPr>
        <p:spPr>
          <a:xfrm>
            <a:off x="8321040" y="2651760"/>
            <a:ext cx="13716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95528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FIRST_LINE_FOR</a:t>
            </a:r>
            <a:endParaRPr lang="en-US" sz="1200" dirty="0"/>
          </a:p>
        </p:txBody>
      </p:sp>
      <p:sp>
        <p:nvSpPr>
          <p:cNvPr id="43" name="Edge properties"/>
          <p:cNvSpPr/>
          <p:nvPr/>
        </p:nvSpPr>
        <p:spPr>
          <a:xfrm>
            <a:off x="7315200" y="3749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9A0F1E"/>
            </a:solidFill>
            <a:prstDash val="dash"/>
          </a:ln>
        </p:spPr>
      </p:sp>
      <p:sp>
        <p:nvSpPr>
          <p:cNvPr id="44" name="Text"/>
          <p:cNvSpPr txBox="1"/>
          <p:nvPr/>
        </p:nvSpPr>
        <p:spPr>
          <a:xfrm>
            <a:off x="749808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edge properties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guideline, page, ...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attached to the relation</a:t>
            </a:r>
            <a:endParaRPr lang="en-US" sz="1400" dirty="0"/>
          </a:p>
        </p:txBody>
      </p:sp>
      <p:sp>
        <p:nvSpPr>
          <p:cNvPr id="45" name="Link"/>
          <p:cNvSpPr/>
          <p:nvPr/>
        </p:nvSpPr>
        <p:spPr>
          <a:xfrm>
            <a:off x="9006840" y="2872168"/>
            <a:ext cx="0" cy="685800"/>
          </a:xfrm>
          <a:prstGeom prst="line">
            <a:avLst/>
          </a:prstGeom>
          <a:noFill/>
          <a:ln w="19050">
            <a:solidFill>
              <a:srgbClr val="9A0F1E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309360" y="5486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2"/>
                </a:solidFill>
              </a:rPr>
              <a:t>Illustration, not a result</a:t>
            </a:r>
            <a:endParaRPr lang="en-US" sz="1200" dirty="0"/>
          </a:p>
        </p:txBody>
      </p:sp>
      <p:sp>
        <p:nvSpPr>
          <p:cNvPr id="48" name="Dot">
            <a:extLst>
              <a:ext uri="{FF2B5EF4-FFF2-40B4-BE49-F238E27FC236}">
                <a16:creationId xmlns:a16="http://schemas.microsoft.com/office/drawing/2014/main" id="{99D988C3-7EA6-0D2F-436D-F2DCBC535242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0" name="Dot">
            <a:extLst>
              <a:ext uri="{FF2B5EF4-FFF2-40B4-BE49-F238E27FC236}">
                <a16:creationId xmlns:a16="http://schemas.microsoft.com/office/drawing/2014/main" id="{7B93A918-31F2-3395-7ABA-435645C5E5B5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LLMs: hallucination and grounding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9 / 36</a:t>
            </a:r>
            <a:endParaRPr lang="en-US" sz="1200" dirty="0"/>
          </a:p>
        </p:txBody>
      </p:sp>
      <p:sp>
        <p:nvSpPr>
          <p:cNvPr id="35" name="Text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Hallucination</a:t>
            </a:r>
            <a:r>
              <a:rPr lang="en-US" sz="2400" dirty="0">
                <a:solidFill>
                  <a:schemeClr val="tx1"/>
                </a:solidFill>
              </a:rPr>
              <a:t>: fluent but unsupported output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Clinical risk: wrong </a:t>
            </a:r>
            <a:r>
              <a:rPr lang="en-US" sz="2400" b="1" dirty="0">
                <a:solidFill>
                  <a:schemeClr val="accent1"/>
                </a:solidFill>
              </a:rPr>
              <a:t>threshold or dose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RAG</a:t>
            </a:r>
            <a:r>
              <a:rPr lang="en-US" sz="2400" dirty="0">
                <a:solidFill>
                  <a:schemeClr val="tx1"/>
                </a:solidFill>
              </a:rPr>
              <a:t>: retrieve evidence, then generate</a:t>
            </a:r>
            <a:endParaRPr lang="en-US" sz="24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Schema-constrained</a:t>
            </a:r>
            <a:r>
              <a:rPr lang="en-US" sz="2400" dirty="0">
                <a:solidFill>
                  <a:schemeClr val="tx1"/>
                </a:solidFill>
              </a:rPr>
              <a:t> prompting: fixed output structure</a:t>
            </a:r>
            <a:endParaRPr lang="en-US" sz="2400" dirty="0"/>
          </a:p>
        </p:txBody>
      </p:sp>
      <p:sp>
        <p:nvSpPr>
          <p:cNvPr id="36" name="Flow box"/>
          <p:cNvSpPr/>
          <p:nvPr/>
        </p:nvSpPr>
        <p:spPr>
          <a:xfrm>
            <a:off x="6583680" y="164592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6656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Graph anchor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2176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chosen by rule-based traversal</a:t>
            </a:r>
            <a:endParaRPr lang="en-US" sz="1600" dirty="0"/>
          </a:p>
        </p:txBody>
      </p:sp>
      <p:sp>
        <p:nvSpPr>
          <p:cNvPr id="39" name="Arrow"/>
          <p:cNvSpPr/>
          <p:nvPr/>
        </p:nvSpPr>
        <p:spPr>
          <a:xfrm>
            <a:off x="9052560" y="2670048"/>
            <a:ext cx="0" cy="41148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0" name="Flow box"/>
          <p:cNvSpPr/>
          <p:nvPr/>
        </p:nvSpPr>
        <p:spPr>
          <a:xfrm>
            <a:off x="6583680" y="31089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0" y="3182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LLM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36393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formulates the question</a:t>
            </a:r>
            <a:endParaRPr lang="en-US" sz="1600" dirty="0"/>
          </a:p>
        </p:txBody>
      </p:sp>
      <p:sp>
        <p:nvSpPr>
          <p:cNvPr id="43" name="Arrow"/>
          <p:cNvSpPr/>
          <p:nvPr/>
        </p:nvSpPr>
        <p:spPr>
          <a:xfrm>
            <a:off x="9052560" y="4133088"/>
            <a:ext cx="0" cy="41148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4" name="Flow box"/>
          <p:cNvSpPr/>
          <p:nvPr/>
        </p:nvSpPr>
        <p:spPr>
          <a:xfrm>
            <a:off x="6583680" y="4572000"/>
            <a:ext cx="49377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66560" y="4645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Validator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6766560" y="5102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checks against the anchor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2"/>
                </a:solidFill>
              </a:rPr>
              <a:t>Similar in spirit to RAG, but no similarity search</a:t>
            </a:r>
            <a:endParaRPr lang="en-US" sz="1400" dirty="0"/>
          </a:p>
        </p:txBody>
      </p:sp>
      <p:sp>
        <p:nvSpPr>
          <p:cNvPr id="49" name="Dot">
            <a:extLst>
              <a:ext uri="{FF2B5EF4-FFF2-40B4-BE49-F238E27FC236}">
                <a16:creationId xmlns:a16="http://schemas.microsoft.com/office/drawing/2014/main" id="{CBFB263C-DF80-C7BC-2811-482C2A00ED74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1" name="Dot">
            <a:extLst>
              <a:ext uri="{FF2B5EF4-FFF2-40B4-BE49-F238E27FC236}">
                <a16:creationId xmlns:a16="http://schemas.microsoft.com/office/drawing/2014/main" id="{DE2DA56E-510F-38F7-FE60-04B594A569E3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3" name="Dot">
            <a:extLst>
              <a:ext uri="{FF2B5EF4-FFF2-40B4-BE49-F238E27FC236}">
                <a16:creationId xmlns:a16="http://schemas.microsoft.com/office/drawing/2014/main" id="{B582B6E9-8949-2AF0-4C74-604C7BFF5A49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Related work and gap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 / 36</a:t>
            </a:r>
            <a:endParaRPr lang="en-US" sz="1200" dirty="0"/>
          </a:p>
        </p:txBody>
      </p:sp>
      <p:graphicFrame>
        <p:nvGraphicFramePr>
          <p:cNvPr id="35" name="Related 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63741"/>
              </p:ext>
            </p:extLst>
          </p:nvPr>
        </p:nvGraphicFramePr>
        <p:xfrm>
          <a:off x="457200" y="1463040"/>
          <a:ext cx="11247120" cy="3401568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u="sng" dirty="0">
                          <a:solidFill>
                            <a:srgbClr val="222222"/>
                          </a:solidFill>
                          <a:hlinkClick r:id="rId3"/>
                        </a:rPr>
                        <a:t>Li 2020</a:t>
                      </a: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4"/>
                        </a:rPr>
                        <a:t>Harnoune 2021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medical KGs from records or text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one source type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5"/>
                        </a:rPr>
                        <a:t>Bi 2020</a:t>
                      </a: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6"/>
                        </a:rPr>
                        <a:t>Liang 2023</a:t>
                      </a: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, </a:t>
                      </a: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7"/>
                        </a:rPr>
                        <a:t>Guo 2024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KG-based question generation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general domain, not guidelines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8"/>
                        </a:rPr>
                        <a:t>Nyameino 2020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questions from one guideline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no cross-guideline, no anchor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9"/>
                        </a:rPr>
                        <a:t>Sousa-Pinto 2024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LLMs propose guideline questions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single case study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hlinkClick r:id="rId10"/>
                        </a:rPr>
                        <a:t>Peleg 2013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computer-interpretable guidelines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decision support only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Gap box"/>
          <p:cNvSpPr/>
          <p:nvPr/>
        </p:nvSpPr>
        <p:spPr>
          <a:xfrm>
            <a:off x="457200" y="51206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37" name="Text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Not found in the reviewed literature: </a:t>
            </a:r>
            <a:r>
              <a:rPr lang="en-US" sz="2000" b="1" dirty="0">
                <a:solidFill>
                  <a:schemeClr val="accent1"/>
                </a:solidFill>
              </a:rPr>
              <a:t>multi-guideline KG + unit normalisation + provenance + graph-anchored questions</a:t>
            </a:r>
            <a:endParaRPr lang="en-US" sz="2000" dirty="0"/>
          </a:p>
        </p:txBody>
      </p:sp>
      <p:sp>
        <p:nvSpPr>
          <p:cNvPr id="39" name="Dot">
            <a:extLst>
              <a:ext uri="{FF2B5EF4-FFF2-40B4-BE49-F238E27FC236}">
                <a16:creationId xmlns:a16="http://schemas.microsoft.com/office/drawing/2014/main" id="{0FDCC3A8-1AC6-C855-239A-5B04AA5FC457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1" name="Dot">
            <a:extLst>
              <a:ext uri="{FF2B5EF4-FFF2-40B4-BE49-F238E27FC236}">
                <a16:creationId xmlns:a16="http://schemas.microsoft.com/office/drawing/2014/main" id="{40421134-CD44-527A-65E2-BA1EB9A87735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3" name="Dot">
            <a:extLst>
              <a:ext uri="{FF2B5EF4-FFF2-40B4-BE49-F238E27FC236}">
                <a16:creationId xmlns:a16="http://schemas.microsoft.com/office/drawing/2014/main" id="{4774D11F-28CF-0186-0D98-755829ADFEAB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Outline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11 / 36</a:t>
            </a:r>
            <a:endParaRPr lang="en-US" sz="1200" dirty="0"/>
          </a:p>
        </p:txBody>
      </p:sp>
      <p:sp>
        <p:nvSpPr>
          <p:cNvPr id="35" name="Number 1"/>
          <p:cNvSpPr/>
          <p:nvPr/>
        </p:nvSpPr>
        <p:spPr>
          <a:xfrm>
            <a:off x="1645920" y="1645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1581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15819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Why comparing guidelines is hard, aims, contributions</a:t>
            </a:r>
            <a:endParaRPr lang="en-US" sz="1800" dirty="0"/>
          </a:p>
        </p:txBody>
      </p:sp>
      <p:sp>
        <p:nvSpPr>
          <p:cNvPr id="38" name="Number 2"/>
          <p:cNvSpPr/>
          <p:nvPr/>
        </p:nvSpPr>
        <p:spPr>
          <a:xfrm>
            <a:off x="1645920" y="25603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2496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24963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Knowledge graphs, LLMs and grounding, related work</a:t>
            </a:r>
            <a:endParaRPr lang="en-US" sz="1800" dirty="0"/>
          </a:p>
        </p:txBody>
      </p:sp>
      <p:sp>
        <p:nvSpPr>
          <p:cNvPr id="41" name="Highlight"/>
          <p:cNvSpPr/>
          <p:nvPr/>
        </p:nvSpPr>
        <p:spPr>
          <a:xfrm>
            <a:off x="1463040" y="3355848"/>
            <a:ext cx="9235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Number 3"/>
          <p:cNvSpPr/>
          <p:nvPr/>
        </p:nvSpPr>
        <p:spPr>
          <a:xfrm>
            <a:off x="1645920" y="3474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246888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Approach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5120640" y="34107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Pipeline, normalisation, question generation</a:t>
            </a:r>
            <a:endParaRPr lang="en-US" sz="1800" dirty="0"/>
          </a:p>
        </p:txBody>
      </p:sp>
      <p:sp>
        <p:nvSpPr>
          <p:cNvPr id="45" name="Number 4"/>
          <p:cNvSpPr/>
          <p:nvPr/>
        </p:nvSpPr>
        <p:spPr>
          <a:xfrm>
            <a:off x="1645920" y="43891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2468880" y="4325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Evaluation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4325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Graph, equivalence links, questions, clinical review</a:t>
            </a:r>
            <a:endParaRPr lang="en-US" sz="1800" dirty="0"/>
          </a:p>
        </p:txBody>
      </p:sp>
      <p:sp>
        <p:nvSpPr>
          <p:cNvPr id="48" name="Number 5"/>
          <p:cNvSpPr/>
          <p:nvPr/>
        </p:nvSpPr>
        <p:spPr>
          <a:xfrm>
            <a:off x="1645920" y="5303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2468880" y="5239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Wrap-up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52395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What it shows, limits, conclusions</a:t>
            </a:r>
            <a:endParaRPr lang="en-US" sz="1800" dirty="0"/>
          </a:p>
        </p:txBody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CD8AF639-B51F-393E-8EF1-88D0C2408E17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52E8BD12-4DF2-1901-B131-7D8E5B1B59C4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6" name="Dot">
            <a:extLst>
              <a:ext uri="{FF2B5EF4-FFF2-40B4-BE49-F238E27FC236}">
                <a16:creationId xmlns:a16="http://schemas.microsoft.com/office/drawing/2014/main" id="{3DE2981B-AA77-92E2-C8BE-8FFD479A39CF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Pipeline overview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12 / 36</a:t>
            </a:r>
            <a:endParaRPr lang="en-US" sz="1200" dirty="0"/>
          </a:p>
        </p:txBody>
      </p:sp>
      <p:pic>
        <p:nvPicPr>
          <p:cNvPr id="35" name="Pipeline figure" descr="Four-stage pipeline: ingestion, extraction, normalisation and integration, question generatio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6858000" cy="484632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7680960" y="182880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4 stages</a:t>
            </a:r>
            <a:r>
              <a:rPr lang="en-US" sz="2200" dirty="0">
                <a:solidFill>
                  <a:schemeClr val="tx1"/>
                </a:solidFill>
              </a:rPr>
              <a:t>, clear input and output</a:t>
            </a:r>
            <a:endParaRPr lang="en-US" sz="22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Each stage </a:t>
            </a:r>
            <a:r>
              <a:rPr lang="en-US" sz="2200" b="1" dirty="0">
                <a:solidFill>
                  <a:schemeClr val="accent1"/>
                </a:solidFill>
              </a:rPr>
              <a:t>evaluated separately</a:t>
            </a:r>
            <a:endParaRPr lang="en-US" sz="2200" dirty="0"/>
          </a:p>
          <a:p>
            <a:pPr marL="254000" indent="-254000" algn="l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Architecture </a:t>
            </a:r>
            <a:r>
              <a:rPr lang="en-US" sz="2200" b="1" dirty="0">
                <a:solidFill>
                  <a:schemeClr val="accent1"/>
                </a:solidFill>
              </a:rPr>
              <a:t>general</a:t>
            </a:r>
            <a:r>
              <a:rPr lang="en-US" sz="2200" dirty="0">
                <a:solidFill>
                  <a:schemeClr val="tx1"/>
                </a:solidFill>
              </a:rPr>
              <a:t>, rules and dictionaries </a:t>
            </a:r>
            <a:r>
              <a:rPr lang="en-US" sz="2200" b="1" dirty="0">
                <a:solidFill>
                  <a:schemeClr val="accent1"/>
                </a:solidFill>
              </a:rPr>
              <a:t>corpus-specific</a:t>
            </a:r>
            <a:endParaRPr lang="en-US" sz="2200" dirty="0"/>
          </a:p>
        </p:txBody>
      </p:sp>
      <p:sp>
        <p:nvSpPr>
          <p:cNvPr id="38" name="Dot">
            <a:extLst>
              <a:ext uri="{FF2B5EF4-FFF2-40B4-BE49-F238E27FC236}">
                <a16:creationId xmlns:a16="http://schemas.microsoft.com/office/drawing/2014/main" id="{D1A87590-AD04-004B-4E84-E4470E57C565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0" name="Dot">
            <a:extLst>
              <a:ext uri="{FF2B5EF4-FFF2-40B4-BE49-F238E27FC236}">
                <a16:creationId xmlns:a16="http://schemas.microsoft.com/office/drawing/2014/main" id="{D0E262F3-07B6-E4D7-909D-C6122402CC93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Challenges of a multi-guideline setting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13 / 36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Challenge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48056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Example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Handled in</a:t>
            </a:r>
            <a:endParaRPr lang="en-US" sz="1400" dirty="0"/>
          </a:p>
        </p:txBody>
      </p:sp>
      <p:sp>
        <p:nvSpPr>
          <p:cNvPr id="38" name="Row"/>
          <p:cNvSpPr/>
          <p:nvPr/>
        </p:nvSpPr>
        <p:spPr>
          <a:xfrm>
            <a:off x="457200" y="1783080"/>
            <a:ext cx="1124712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umber 1"/>
          <p:cNvSpPr/>
          <p:nvPr/>
        </p:nvSpPr>
        <p:spPr>
          <a:xfrm>
            <a:off x="594360" y="19568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178308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Structural heterogeneity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4480560" y="1783080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clean text vs extraction artefacts, no uniform layout</a:t>
            </a:r>
            <a:endParaRPr lang="en-US" sz="1600" dirty="0"/>
          </a:p>
        </p:txBody>
      </p:sp>
      <p:sp>
        <p:nvSpPr>
          <p:cNvPr id="42" name="Handled chip"/>
          <p:cNvSpPr/>
          <p:nvPr/>
        </p:nvSpPr>
        <p:spPr>
          <a:xfrm>
            <a:off x="8869680" y="1865376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61120" y="186537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Ingestion</a:t>
            </a:r>
            <a:endParaRPr lang="en-US" sz="1300" dirty="0"/>
          </a:p>
        </p:txBody>
      </p:sp>
      <p:sp>
        <p:nvSpPr>
          <p:cNvPr id="44" name="Row"/>
          <p:cNvSpPr/>
          <p:nvPr/>
        </p:nvSpPr>
        <p:spPr>
          <a:xfrm>
            <a:off x="457200" y="2688336"/>
            <a:ext cx="1124712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Number 2"/>
          <p:cNvSpPr/>
          <p:nvPr/>
        </p:nvSpPr>
        <p:spPr>
          <a:xfrm>
            <a:off x="594360" y="28620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1280160" y="268833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Terminological variation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4480560" y="2688336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fpg = fasting plasma glucose = fasting glucose</a:t>
            </a:r>
            <a:endParaRPr lang="en-US" sz="1600" dirty="0"/>
          </a:p>
        </p:txBody>
      </p:sp>
      <p:sp>
        <p:nvSpPr>
          <p:cNvPr id="48" name="Handled chip"/>
          <p:cNvSpPr/>
          <p:nvPr/>
        </p:nvSpPr>
        <p:spPr>
          <a:xfrm>
            <a:off x="8869680" y="2770632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61120" y="27706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Deduplication</a:t>
            </a:r>
            <a:endParaRPr lang="en-US" sz="1300" dirty="0"/>
          </a:p>
        </p:txBody>
      </p:sp>
      <p:sp>
        <p:nvSpPr>
          <p:cNvPr id="50" name="Row"/>
          <p:cNvSpPr/>
          <p:nvPr/>
        </p:nvSpPr>
        <p:spPr>
          <a:xfrm>
            <a:off x="457200" y="3593592"/>
            <a:ext cx="1124712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Number 3"/>
          <p:cNvSpPr/>
          <p:nvPr/>
        </p:nvSpPr>
        <p:spPr>
          <a:xfrm>
            <a:off x="594360" y="3767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1280160" y="35935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Unit inconsistency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4480560" y="3593592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126 mg/dL = 7.0 mmol/L</a:t>
            </a:r>
            <a:endParaRPr lang="en-US" sz="1600" dirty="0"/>
          </a:p>
        </p:txBody>
      </p:sp>
      <p:sp>
        <p:nvSpPr>
          <p:cNvPr id="54" name="Handled chip"/>
          <p:cNvSpPr/>
          <p:nvPr/>
        </p:nvSpPr>
        <p:spPr>
          <a:xfrm>
            <a:off x="8869680" y="3675888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961120" y="3675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Unit normalisation</a:t>
            </a:r>
            <a:endParaRPr lang="en-US" sz="1300" dirty="0"/>
          </a:p>
        </p:txBody>
      </p:sp>
      <p:sp>
        <p:nvSpPr>
          <p:cNvPr id="56" name="Row"/>
          <p:cNvSpPr/>
          <p:nvPr/>
        </p:nvSpPr>
        <p:spPr>
          <a:xfrm>
            <a:off x="457200" y="4498848"/>
            <a:ext cx="1124712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Number 4"/>
          <p:cNvSpPr/>
          <p:nvPr/>
        </p:nvSpPr>
        <p:spPr>
          <a:xfrm>
            <a:off x="594360" y="46725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58" name="Text 56"/>
          <p:cNvSpPr txBox="1"/>
          <p:nvPr/>
        </p:nvSpPr>
        <p:spPr>
          <a:xfrm>
            <a:off x="1280160" y="449884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LLM adding information</a:t>
            </a:r>
            <a:endParaRPr lang="en-US" sz="1900" dirty="0"/>
          </a:p>
        </p:txBody>
      </p:sp>
      <p:sp>
        <p:nvSpPr>
          <p:cNvPr id="59" name="Text 57"/>
          <p:cNvSpPr txBox="1"/>
          <p:nvPr/>
        </p:nvSpPr>
        <p:spPr>
          <a:xfrm>
            <a:off x="4480560" y="4498848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invented indication, or an age the source never states</a:t>
            </a:r>
            <a:endParaRPr lang="en-US" sz="1600" dirty="0"/>
          </a:p>
        </p:txBody>
      </p:sp>
      <p:sp>
        <p:nvSpPr>
          <p:cNvPr id="60" name="Handled chip"/>
          <p:cNvSpPr/>
          <p:nvPr/>
        </p:nvSpPr>
        <p:spPr>
          <a:xfrm>
            <a:off x="8869680" y="4581144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961120" y="4581144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Constrained extraction, anchored questions, validation</a:t>
            </a:r>
            <a:endParaRPr lang="en-US" sz="1300" dirty="0"/>
          </a:p>
        </p:txBody>
      </p:sp>
      <p:sp>
        <p:nvSpPr>
          <p:cNvPr id="62" name="Row"/>
          <p:cNvSpPr/>
          <p:nvPr/>
        </p:nvSpPr>
        <p:spPr>
          <a:xfrm>
            <a:off x="457200" y="5404104"/>
            <a:ext cx="1124712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3" name="Number 5"/>
          <p:cNvSpPr/>
          <p:nvPr/>
        </p:nvSpPr>
        <p:spPr>
          <a:xfrm>
            <a:off x="594360" y="5577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64" name="Text 62"/>
          <p:cNvSpPr txBox="1"/>
          <p:nvPr/>
        </p:nvSpPr>
        <p:spPr>
          <a:xfrm>
            <a:off x="1280160" y="540410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Entity scoping</a:t>
            </a:r>
            <a:endParaRPr lang="en-US" sz="1900" dirty="0"/>
          </a:p>
        </p:txBody>
      </p:sp>
      <p:sp>
        <p:nvSpPr>
          <p:cNvPr id="65" name="Text 63"/>
          <p:cNvSpPr txBox="1"/>
          <p:nvPr/>
        </p:nvSpPr>
        <p:spPr>
          <a:xfrm>
            <a:off x="4480560" y="5404104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 drug is one global node, a threshold stays per organisation</a:t>
            </a:r>
            <a:endParaRPr lang="en-US" sz="1600" dirty="0"/>
          </a:p>
        </p:txBody>
      </p:sp>
      <p:sp>
        <p:nvSpPr>
          <p:cNvPr id="66" name="Handled chip"/>
          <p:cNvSpPr/>
          <p:nvPr/>
        </p:nvSpPr>
        <p:spPr>
          <a:xfrm>
            <a:off x="8869680" y="5486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961120" y="54864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Schema, deduplication, EQUIVALENT_TO</a:t>
            </a:r>
            <a:endParaRPr lang="en-US" sz="1300" dirty="0"/>
          </a:p>
        </p:txBody>
      </p:sp>
      <p:sp>
        <p:nvSpPr>
          <p:cNvPr id="69" name="Dot">
            <a:extLst>
              <a:ext uri="{FF2B5EF4-FFF2-40B4-BE49-F238E27FC236}">
                <a16:creationId xmlns:a16="http://schemas.microsoft.com/office/drawing/2014/main" id="{10FACF4D-CA0F-D5A0-2E47-7B7F5640D16F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1" name="Dot">
            <a:extLst>
              <a:ext uri="{FF2B5EF4-FFF2-40B4-BE49-F238E27FC236}">
                <a16:creationId xmlns:a16="http://schemas.microsoft.com/office/drawing/2014/main" id="{3B6FEB13-DC76-32D2-324F-94CEBD996A10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3" name="Dot">
            <a:extLst>
              <a:ext uri="{FF2B5EF4-FFF2-40B4-BE49-F238E27FC236}">
                <a16:creationId xmlns:a16="http://schemas.microsoft.com/office/drawing/2014/main" id="{DE08DA1C-1AFE-406B-2525-E6AFD3ECDB89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Corpus: 8 documents, 4 organisations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14 / 36</a:t>
            </a:r>
            <a:endParaRPr lang="en-US" sz="1200" dirty="0"/>
          </a:p>
        </p:txBody>
      </p:sp>
      <p:graphicFrame>
        <p:nvGraphicFramePr>
          <p:cNvPr id="35" name="Corp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9374"/>
              </p:ext>
            </p:extLst>
          </p:nvPr>
        </p:nvGraphicFramePr>
        <p:xfrm>
          <a:off x="457200" y="1463040"/>
          <a:ext cx="11247120" cy="28686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0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Organisation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Documents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Pages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Tables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Layout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Glucose unit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ADA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Standards of Care 2026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377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176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113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3 columns, numbered recs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mg/dL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NICE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NG17, NG28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188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216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numbered, graded statements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mmol/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</a:rPr>
                        <a:t>litre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3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IDF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Global Recommendations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112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prose, care-tier tables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mmol/L and mg/dL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Diabetes Canada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CPG 2018, 4 chapters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journal-style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</a:rPr>
                        <a:t>mmol/L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1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Total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8 documents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699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419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Text"/>
          <p:cNvSpPr txBox="1"/>
          <p:nvPr/>
        </p:nvSpPr>
        <p:spPr>
          <a:xfrm>
            <a:off x="425196" y="4517136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Four selection criteria: </a:t>
            </a:r>
            <a:r>
              <a:rPr lang="en-US" sz="1800" dirty="0">
                <a:solidFill>
                  <a:schemeClr val="tx1"/>
                </a:solidFill>
              </a:rPr>
              <a:t>geography and system, clinical coverage, format diversity, recommendation specificity</a:t>
            </a:r>
            <a:endParaRPr lang="en-US" sz="18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Grading differs: </a:t>
            </a:r>
            <a:r>
              <a:rPr lang="en-US" sz="1800" dirty="0">
                <a:solidFill>
                  <a:schemeClr val="tx1"/>
                </a:solidFill>
              </a:rPr>
              <a:t>ADA A to E, NICE strength ratings, Diabetes Canada A to D</a:t>
            </a:r>
            <a:endParaRPr lang="en-US" sz="1800" dirty="0"/>
          </a:p>
        </p:txBody>
      </p:sp>
      <p:sp>
        <p:nvSpPr>
          <p:cNvPr id="38" name="Dot">
            <a:extLst>
              <a:ext uri="{FF2B5EF4-FFF2-40B4-BE49-F238E27FC236}">
                <a16:creationId xmlns:a16="http://schemas.microsoft.com/office/drawing/2014/main" id="{7A5F9115-2B99-850D-0B48-BC36B7488BA8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0" name="Dot">
            <a:extLst>
              <a:ext uri="{FF2B5EF4-FFF2-40B4-BE49-F238E27FC236}">
                <a16:creationId xmlns:a16="http://schemas.microsoft.com/office/drawing/2014/main" id="{099670BE-B705-56C6-3D02-B140593E4F64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2" name="Dot">
            <a:extLst>
              <a:ext uri="{FF2B5EF4-FFF2-40B4-BE49-F238E27FC236}">
                <a16:creationId xmlns:a16="http://schemas.microsoft.com/office/drawing/2014/main" id="{B1F9D4AC-5E9F-3837-EAE3-559024BF5839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Formal ingestion model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15 / 36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"/>
              <p:cNvSpPr txBox="1"/>
              <p:nvPr/>
            </p:nvSpPr>
            <p:spPr>
              <a:xfrm>
                <a:off x="548640" y="1645920"/>
                <a:ext cx="6414516" cy="457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54000" indent="-2540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Element provenance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sz="24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𝒆𝒍𝒆𝒎</m:t>
                        </m:r>
                        <m:r>
                          <a:rPr lang="en-US" sz="24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400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: id, section id, section title, start page, end page</a:t>
                </a:r>
                <a:endParaRPr lang="en-US" sz="2200" dirty="0"/>
              </a:p>
              <a:p>
                <a:pPr marL="254000" indent="-254000">
                  <a:spcAft>
                    <a:spcPts val="1600"/>
                  </a:spcAft>
                  <a:buSzPct val="100000"/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Document provenance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𝒅𝒐𝒄</m:t>
                        </m:r>
                      </m:sup>
                    </m:sSup>
                    <m:r>
                      <a:rPr lang="en-US" sz="2000" b="1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: document id, organisation, geography, source file</a:t>
                </a:r>
                <a:endParaRPr lang="en-US" sz="2200" dirty="0"/>
              </a:p>
              <a:p>
                <a:pPr marL="254000" indent="-2540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Ingestion </a:t>
                </a:r>
                <a14:m>
                  <m:oMath xmlns:m="http://schemas.openxmlformats.org/officeDocument/2006/math">
                    <m:r>
                      <a:rPr lang="el-G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: documents → sets of typed elements</a:t>
                </a:r>
                <a:endParaRPr lang="en-US" sz="2200" dirty="0"/>
              </a:p>
              <a:p>
                <a:pPr marL="254000" indent="-254000" algn="l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200" dirty="0">
                    <a:solidFill>
                      <a:schemeClr val="tx1"/>
                    </a:solidFill>
                  </a:rPr>
                  <a:t>Requires </a:t>
                </a:r>
                <a:r>
                  <a:rPr lang="en-US" sz="2200" b="1" dirty="0">
                    <a:solidFill>
                      <a:schemeClr val="accent1"/>
                    </a:solidFill>
                  </a:rPr>
                  <a:t>totality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, </a:t>
                </a:r>
                <a:r>
                  <a:rPr lang="en-US" sz="2200" b="1" dirty="0">
                    <a:solidFill>
                      <a:schemeClr val="accent1"/>
                    </a:solidFill>
                  </a:rPr>
                  <a:t>type coverage</a:t>
                </a:r>
                <a:r>
                  <a:rPr lang="en-US" sz="2200" dirty="0">
                    <a:solidFill>
                      <a:schemeClr val="accent1"/>
                    </a:solidFill>
                  </a:rPr>
                  <a:t>, </a:t>
                </a:r>
                <a:r>
                  <a:rPr lang="en-US" sz="2200" b="1" dirty="0">
                    <a:solidFill>
                      <a:schemeClr val="accent1"/>
                    </a:solidFill>
                  </a:rPr>
                  <a:t>provenance completeness</a:t>
                </a:r>
                <a:endParaRPr lang="en-US" sz="2200" dirty="0">
                  <a:solidFill>
                    <a:schemeClr val="accent1"/>
                  </a:solidFill>
                </a:endParaRPr>
              </a:p>
              <a:p>
                <a:pPr marL="254000" indent="-254000" algn="l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200" dirty="0">
                    <a:solidFill>
                      <a:schemeClr val="tx1"/>
                    </a:solidFill>
                  </a:rPr>
                  <a:t>Per-publisher problems: encoding artefacts, where a recommendation ends</a:t>
                </a:r>
                <a:endParaRPr lang="en-US" sz="2200" dirty="0"/>
              </a:p>
            </p:txBody>
          </p:sp>
        </mc:Choice>
        <mc:Fallback xmlns="">
          <p:sp>
            <p:nvSpPr>
              <p:cNvPr id="3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45920"/>
                <a:ext cx="6414516" cy="4572000"/>
              </a:xfrm>
              <a:prstGeom prst="rect">
                <a:avLst/>
              </a:prstGeom>
              <a:blipFill>
                <a:blip r:embed="rId3"/>
                <a:stretch>
                  <a:fillRect l="-2662" t="-667" r="-9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Dot">
            <a:extLst>
              <a:ext uri="{FF2B5EF4-FFF2-40B4-BE49-F238E27FC236}">
                <a16:creationId xmlns:a16="http://schemas.microsoft.com/office/drawing/2014/main" id="{186C58EA-8802-EF7B-2ACA-82AA93BD4915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5BE77E82-4331-025E-4EC9-39D1988024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630324"/>
                  </p:ext>
                </p:extLst>
              </p:nvPr>
            </p:nvGraphicFramePr>
            <p:xfrm>
              <a:off x="7067702" y="3315728"/>
              <a:ext cx="4856304" cy="30247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28152">
                      <a:extLst>
                        <a:ext uri="{9D8B030D-6E8A-4147-A177-3AD203B41FA5}">
                          <a16:colId xmlns:a16="http://schemas.microsoft.com/office/drawing/2014/main" val="3860391155"/>
                        </a:ext>
                      </a:extLst>
                    </a:gridCol>
                    <a:gridCol w="2428152">
                      <a:extLst>
                        <a:ext uri="{9D8B030D-6E8A-4147-A177-3AD203B41FA5}">
                          <a16:colId xmlns:a16="http://schemas.microsoft.com/office/drawing/2014/main" val="5733211"/>
                        </a:ext>
                      </a:extLst>
                    </a:gridCol>
                  </a:tblGrid>
                  <a:tr h="8734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  <m:sup>
                                  <m:r>
                                    <a:rPr lang="en-US" sz="16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𝒅𝒐𝒄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600" b="1" dirty="0">
                              <a:effectLst/>
                            </a:rPr>
                            <a:t>(shared by all its elements)</a:t>
                          </a:r>
                          <a:endParaRPr lang="en-US" sz="16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0336843"/>
                      </a:ext>
                    </a:extLst>
                  </a:tr>
                  <a:tr h="3493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id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ADA_2026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6311145"/>
                      </a:ext>
                    </a:extLst>
                  </a:tr>
                  <a:tr h="3493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organization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American Diabetes Association (ADA)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7151465"/>
                      </a:ext>
                    </a:extLst>
                  </a:tr>
                  <a:tr h="3493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geography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US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81298340"/>
                      </a:ext>
                    </a:extLst>
                  </a:tr>
                  <a:tr h="8734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source file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ADA_Standards_of_Care_2026.pdf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57392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5BE77E82-4331-025E-4EC9-39D1988024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630324"/>
                  </p:ext>
                </p:extLst>
              </p:nvPr>
            </p:nvGraphicFramePr>
            <p:xfrm>
              <a:off x="7067702" y="3315728"/>
              <a:ext cx="4856304" cy="30247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28152">
                      <a:extLst>
                        <a:ext uri="{9D8B030D-6E8A-4147-A177-3AD203B41FA5}">
                          <a16:colId xmlns:a16="http://schemas.microsoft.com/office/drawing/2014/main" val="3860391155"/>
                        </a:ext>
                      </a:extLst>
                    </a:gridCol>
                    <a:gridCol w="2428152">
                      <a:extLst>
                        <a:ext uri="{9D8B030D-6E8A-4147-A177-3AD203B41FA5}">
                          <a16:colId xmlns:a16="http://schemas.microsoft.com/office/drawing/2014/main" val="5733211"/>
                        </a:ext>
                      </a:extLst>
                    </a:gridCol>
                  </a:tblGrid>
                  <a:tr h="8734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251" t="-694" r="-1003" b="-247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0336843"/>
                      </a:ext>
                    </a:extLst>
                  </a:tr>
                  <a:tr h="3493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id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ADA_2026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631114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organization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/>
                            <a:t>American Diabetes Association (ADA)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47151465"/>
                      </a:ext>
                    </a:extLst>
                  </a:tr>
                  <a:tr h="3493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geography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US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81298340"/>
                      </a:ext>
                    </a:extLst>
                  </a:tr>
                  <a:tr h="87342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source file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ADA_Standards_of_Care_2026.pdf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57392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Table 38">
                <a:extLst>
                  <a:ext uri="{FF2B5EF4-FFF2-40B4-BE49-F238E27FC236}">
                    <a16:creationId xmlns:a16="http://schemas.microsoft.com/office/drawing/2014/main" id="{250266E6-A0E3-D0FE-30D2-225ADB9C3A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328607"/>
                  </p:ext>
                </p:extLst>
              </p:nvPr>
            </p:nvGraphicFramePr>
            <p:xfrm>
              <a:off x="7054596" y="1333787"/>
              <a:ext cx="4847898" cy="18250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23949">
                      <a:extLst>
                        <a:ext uri="{9D8B030D-6E8A-4147-A177-3AD203B41FA5}">
                          <a16:colId xmlns:a16="http://schemas.microsoft.com/office/drawing/2014/main" val="1256228761"/>
                        </a:ext>
                      </a:extLst>
                    </a:gridCol>
                    <a:gridCol w="2423949">
                      <a:extLst>
                        <a:ext uri="{9D8B030D-6E8A-4147-A177-3AD203B41FA5}">
                          <a16:colId xmlns:a16="http://schemas.microsoft.com/office/drawing/2014/main" val="137416752"/>
                        </a:ext>
                      </a:extLst>
                    </a:gridCol>
                  </a:tblGrid>
                  <a:tr h="57537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e>
                                <m:sub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𝒆𝒍𝒆𝒎</m:t>
                                  </m:r>
                                  <m:r>
                                    <a:rPr lang="en-US" sz="1600" b="1" i="1" dirty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sz="1600" b="0" dirty="0">
                              <a:effectLst/>
                            </a:rPr>
                            <a:t>(</a:t>
                          </a:r>
                          <a:r>
                            <a:rPr lang="en-US" sz="1600" dirty="0">
                              <a:effectLst/>
                            </a:rPr>
                            <a:t>one text element)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25393604"/>
                      </a:ext>
                    </a:extLst>
                  </a:tr>
                  <a:tr h="32878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id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ada_0412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0323422"/>
                      </a:ext>
                    </a:extLst>
                  </a:tr>
                  <a:tr h="57537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section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sec_2</a:t>
                          </a:r>
                          <a:r>
                            <a:rPr lang="en-US" sz="1600" dirty="0">
                              <a:effectLst/>
                            </a:rPr>
                            <a:t>, “Diagnosis and Classification of Diabetes”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6907561"/>
                      </a:ext>
                    </a:extLst>
                  </a:tr>
                  <a:tr h="32878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pages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start 25, end 25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4856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Table 38">
                <a:extLst>
                  <a:ext uri="{FF2B5EF4-FFF2-40B4-BE49-F238E27FC236}">
                    <a16:creationId xmlns:a16="http://schemas.microsoft.com/office/drawing/2014/main" id="{250266E6-A0E3-D0FE-30D2-225ADB9C3A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328607"/>
                  </p:ext>
                </p:extLst>
              </p:nvPr>
            </p:nvGraphicFramePr>
            <p:xfrm>
              <a:off x="7054596" y="1333787"/>
              <a:ext cx="4847898" cy="18250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23949">
                      <a:extLst>
                        <a:ext uri="{9D8B030D-6E8A-4147-A177-3AD203B41FA5}">
                          <a16:colId xmlns:a16="http://schemas.microsoft.com/office/drawing/2014/main" val="1256228761"/>
                        </a:ext>
                      </a:extLst>
                    </a:gridCol>
                    <a:gridCol w="2423949">
                      <a:extLst>
                        <a:ext uri="{9D8B030D-6E8A-4147-A177-3AD203B41FA5}">
                          <a16:colId xmlns:a16="http://schemas.microsoft.com/office/drawing/2014/main" val="137416752"/>
                        </a:ext>
                      </a:extLst>
                    </a:gridCol>
                  </a:tblGrid>
                  <a:tr h="57537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251" t="-1053" r="-1005" b="-2294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39360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id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ada_0412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032342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section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latin typeface="Courier New" panose="02070309020205020404" pitchFamily="49" charset="0"/>
                            </a:rPr>
                            <a:t>sec_2</a:t>
                          </a:r>
                          <a:r>
                            <a:rPr lang="en-US" sz="1600" dirty="0">
                              <a:effectLst/>
                            </a:rPr>
                            <a:t>, “Diagnosis and Classification of Diabetes”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6690756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pages</a:t>
                          </a:r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 dirty="0">
                              <a:effectLst/>
                            </a:rPr>
                            <a:t>start 25, end 25</a:t>
                          </a:r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4856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Dot">
            <a:extLst>
              <a:ext uri="{FF2B5EF4-FFF2-40B4-BE49-F238E27FC236}">
                <a16:creationId xmlns:a16="http://schemas.microsoft.com/office/drawing/2014/main" id="{79D4B978-1DD6-13C9-AE65-E8B2E1F8D9D2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3" name="Dot">
            <a:extLst>
              <a:ext uri="{FF2B5EF4-FFF2-40B4-BE49-F238E27FC236}">
                <a16:creationId xmlns:a16="http://schemas.microsoft.com/office/drawing/2014/main" id="{FC5A6A8D-454A-CA48-D584-465F862BBB83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Graph schema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16 / 36</a:t>
            </a:r>
            <a:endParaRPr lang="en-US" sz="1200" dirty="0"/>
          </a:p>
        </p:txBody>
      </p:sp>
      <p:pic>
        <p:nvPicPr>
          <p:cNvPr id="35" name="Schema figure" descr="Knowledge graph schema with global, structural and organisation-scoped nod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1417320"/>
            <a:ext cx="5852160" cy="4846320"/>
          </a:xfrm>
          <a:prstGeom prst="rect">
            <a:avLst/>
          </a:prstGeom>
        </p:spPr>
      </p:pic>
      <p:sp>
        <p:nvSpPr>
          <p:cNvPr id="36" name="Text"/>
          <p:cNvSpPr txBox="1"/>
          <p:nvPr/>
        </p:nvSpPr>
        <p:spPr>
          <a:xfrm>
            <a:off x="562356" y="3166279"/>
            <a:ext cx="5120640" cy="2445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13 node types</a:t>
            </a:r>
            <a:r>
              <a:rPr lang="en-US" sz="2200" dirty="0">
                <a:solidFill>
                  <a:schemeClr val="tx1"/>
                </a:solidFill>
              </a:rPr>
              <a:t> in 3 scopes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18 relation types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Properties + provenance</a:t>
            </a:r>
            <a:r>
              <a:rPr lang="en-US" sz="2200" dirty="0">
                <a:solidFill>
                  <a:schemeClr val="tx1"/>
                </a:solidFill>
              </a:rPr>
              <a:t> on nodes and edges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Global: </a:t>
            </a:r>
            <a:r>
              <a:rPr lang="en-US" sz="2200" b="1" dirty="0">
                <a:solidFill>
                  <a:schemeClr val="tx1"/>
                </a:solidFill>
              </a:rPr>
              <a:t>Drug</a:t>
            </a:r>
            <a:r>
              <a:rPr lang="en-US" sz="2200" dirty="0">
                <a:solidFill>
                  <a:schemeClr val="tx1"/>
                </a:solidFill>
              </a:rPr>
              <a:t> links guidelines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Scoped: </a:t>
            </a:r>
            <a:r>
              <a:rPr lang="en-US" sz="2200" b="1" dirty="0">
                <a:solidFill>
                  <a:schemeClr val="tx1"/>
                </a:solidFill>
              </a:rPr>
              <a:t>GlycaemicTarget</a:t>
            </a:r>
            <a:r>
              <a:rPr lang="en-US" sz="2200" dirty="0">
                <a:solidFill>
                  <a:schemeClr val="tx1"/>
                </a:solidFill>
              </a:rPr>
              <a:t> stays per organisation</a:t>
            </a:r>
            <a:endParaRPr lang="en-US" sz="2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462CD3D-A74E-24CA-98C6-4DD0A68DB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77" y="1287295"/>
            <a:ext cx="5196379" cy="1780409"/>
          </a:xfrm>
          <a:prstGeom prst="rect">
            <a:avLst/>
          </a:prstGeom>
        </p:spPr>
      </p:pic>
      <p:sp>
        <p:nvSpPr>
          <p:cNvPr id="40" name="Dot">
            <a:extLst>
              <a:ext uri="{FF2B5EF4-FFF2-40B4-BE49-F238E27FC236}">
                <a16:creationId xmlns:a16="http://schemas.microsoft.com/office/drawing/2014/main" id="{50376151-6154-E744-28D4-19FB3E1A73EB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2" name="Dot">
            <a:extLst>
              <a:ext uri="{FF2B5EF4-FFF2-40B4-BE49-F238E27FC236}">
                <a16:creationId xmlns:a16="http://schemas.microsoft.com/office/drawing/2014/main" id="{593D1301-4322-7140-3855-E4ADCF903670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Dual-layer extraction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18 / 36</a:t>
            </a:r>
            <a:endParaRPr lang="en-US" sz="1200" dirty="0"/>
          </a:p>
        </p:txBody>
      </p:sp>
      <p:pic>
        <p:nvPicPr>
          <p:cNvPr id="35" name="Extraction figure" descr="Layered extraction architecture with a rule-based layer and a contextual LLM lay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0" y="1417320"/>
            <a:ext cx="4480560" cy="484632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Rule layer example</a:t>
            </a:r>
            <a:endParaRPr lang="en-US" sz="1800" dirty="0"/>
          </a:p>
        </p:txBody>
      </p:sp>
      <p:sp>
        <p:nvSpPr>
          <p:cNvPr id="37" name="Field box"/>
          <p:cNvSpPr/>
          <p:nvPr/>
        </p:nvSpPr>
        <p:spPr>
          <a:xfrm>
            <a:off x="548640" y="1965960"/>
            <a:ext cx="15544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486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FPG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54864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metric</a:t>
            </a:r>
            <a:endParaRPr lang="en-US" sz="1400" dirty="0"/>
          </a:p>
        </p:txBody>
      </p:sp>
      <p:sp>
        <p:nvSpPr>
          <p:cNvPr id="40" name="Field box"/>
          <p:cNvSpPr/>
          <p:nvPr/>
        </p:nvSpPr>
        <p:spPr>
          <a:xfrm>
            <a:off x="2240280" y="1965960"/>
            <a:ext cx="15544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24028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≥</a:t>
            </a:r>
            <a:endParaRPr lang="en-US" sz="2600" dirty="0"/>
          </a:p>
        </p:txBody>
      </p:sp>
      <p:sp>
        <p:nvSpPr>
          <p:cNvPr id="42" name="Text 39"/>
          <p:cNvSpPr txBox="1"/>
          <p:nvPr/>
        </p:nvSpPr>
        <p:spPr>
          <a:xfrm>
            <a:off x="224028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operator</a:t>
            </a:r>
            <a:endParaRPr lang="en-US" sz="1400" dirty="0"/>
          </a:p>
        </p:txBody>
      </p:sp>
      <p:sp>
        <p:nvSpPr>
          <p:cNvPr id="43" name="Field box"/>
          <p:cNvSpPr/>
          <p:nvPr/>
        </p:nvSpPr>
        <p:spPr>
          <a:xfrm>
            <a:off x="3931920" y="1965960"/>
            <a:ext cx="15544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93192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7.0</a:t>
            </a:r>
            <a:endParaRPr lang="en-US" sz="2600" dirty="0"/>
          </a:p>
        </p:txBody>
      </p:sp>
      <p:sp>
        <p:nvSpPr>
          <p:cNvPr id="45" name="Text 42"/>
          <p:cNvSpPr txBox="1"/>
          <p:nvPr/>
        </p:nvSpPr>
        <p:spPr>
          <a:xfrm>
            <a:off x="39319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value</a:t>
            </a:r>
            <a:endParaRPr lang="en-US" sz="1400" dirty="0"/>
          </a:p>
        </p:txBody>
      </p:sp>
      <p:sp>
        <p:nvSpPr>
          <p:cNvPr id="46" name="Field box"/>
          <p:cNvSpPr/>
          <p:nvPr/>
        </p:nvSpPr>
        <p:spPr>
          <a:xfrm>
            <a:off x="5623560" y="1965960"/>
            <a:ext cx="15544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2356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mmol/L</a:t>
            </a:r>
            <a:endParaRPr lang="en-US" sz="2600" dirty="0"/>
          </a:p>
        </p:txBody>
      </p:sp>
      <p:sp>
        <p:nvSpPr>
          <p:cNvPr id="48" name="Text 45"/>
          <p:cNvSpPr txBox="1"/>
          <p:nvPr/>
        </p:nvSpPr>
        <p:spPr>
          <a:xfrm>
            <a:off x="562356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unit</a:t>
            </a:r>
            <a:endParaRPr lang="en-US" sz="1400" dirty="0"/>
          </a:p>
        </p:txBody>
      </p:sp>
      <p:sp>
        <p:nvSpPr>
          <p:cNvPr id="49" name="Text"/>
          <p:cNvSpPr txBox="1"/>
          <p:nvPr/>
        </p:nvSpPr>
        <p:spPr>
          <a:xfrm>
            <a:off x="548640" y="3474720"/>
            <a:ext cx="676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Rule layer</a:t>
            </a:r>
            <a:r>
              <a:rPr lang="en-US" sz="2200" dirty="0">
                <a:solidFill>
                  <a:schemeClr val="tx1"/>
                </a:solidFill>
              </a:rPr>
              <a:t>: numeric targets, protocols</a:t>
            </a:r>
            <a:endParaRPr lang="en-US" sz="22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LLM layer</a:t>
            </a:r>
            <a:r>
              <a:rPr lang="en-US" sz="2200" dirty="0">
                <a:solidFill>
                  <a:schemeClr val="tx1"/>
                </a:solidFill>
              </a:rPr>
              <a:t>: drugs, populations, conditions</a:t>
            </a:r>
            <a:endParaRPr lang="en-US" sz="22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Each type goes to </a:t>
            </a:r>
            <a:r>
              <a:rPr lang="en-US" sz="2200" b="1" dirty="0">
                <a:solidFill>
                  <a:schemeClr val="accent1"/>
                </a:solidFill>
              </a:rPr>
              <a:t>one layer</a:t>
            </a:r>
            <a:r>
              <a:rPr lang="en-US" sz="2200" dirty="0">
                <a:solidFill>
                  <a:schemeClr val="tx1"/>
                </a:solidFill>
              </a:rPr>
              <a:t>, chosen up front</a:t>
            </a:r>
            <a:endParaRPr lang="en-US" sz="22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Method label on every record</a:t>
            </a:r>
            <a:endParaRPr lang="en-US" sz="2200" dirty="0"/>
          </a:p>
        </p:txBody>
      </p:sp>
      <p:sp>
        <p:nvSpPr>
          <p:cNvPr id="51" name="Dot">
            <a:extLst>
              <a:ext uri="{FF2B5EF4-FFF2-40B4-BE49-F238E27FC236}">
                <a16:creationId xmlns:a16="http://schemas.microsoft.com/office/drawing/2014/main" id="{7E871365-5F7F-0FD5-32BD-F8C688F7CFEF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3" name="Dot">
            <a:extLst>
              <a:ext uri="{FF2B5EF4-FFF2-40B4-BE49-F238E27FC236}">
                <a16:creationId xmlns:a16="http://schemas.microsoft.com/office/drawing/2014/main" id="{F783C632-794F-F4C3-3235-8BF1466029EC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5" name="Dot">
            <a:extLst>
              <a:ext uri="{FF2B5EF4-FFF2-40B4-BE49-F238E27FC236}">
                <a16:creationId xmlns:a16="http://schemas.microsoft.com/office/drawing/2014/main" id="{25788003-1872-A4FF-4A5E-3656C4AB4FF8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Deduplication and integration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19 / 36</a:t>
            </a:r>
            <a:endParaRPr lang="en-US" sz="1200" dirty="0"/>
          </a:p>
        </p:txBody>
      </p:sp>
      <p:sp>
        <p:nvSpPr>
          <p:cNvPr id="35" name="Alias box"/>
          <p:cNvSpPr/>
          <p:nvPr/>
        </p:nvSpPr>
        <p:spPr>
          <a:xfrm>
            <a:off x="457200" y="1600200"/>
            <a:ext cx="30175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1600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fpg</a:t>
            </a:r>
            <a:endParaRPr lang="en-US" sz="1800" dirty="0"/>
          </a:p>
        </p:txBody>
      </p:sp>
      <p:sp>
        <p:nvSpPr>
          <p:cNvPr id="37" name="Arrow"/>
          <p:cNvSpPr/>
          <p:nvPr/>
        </p:nvSpPr>
        <p:spPr>
          <a:xfrm>
            <a:off x="3520440" y="1943100"/>
            <a:ext cx="6858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38" name="Alias box"/>
          <p:cNvSpPr/>
          <p:nvPr/>
        </p:nvSpPr>
        <p:spPr>
          <a:xfrm>
            <a:off x="457200" y="2468880"/>
            <a:ext cx="30175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24688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fasting plasma glucose</a:t>
            </a:r>
            <a:endParaRPr lang="en-US" sz="1800" dirty="0"/>
          </a:p>
        </p:txBody>
      </p:sp>
      <p:sp>
        <p:nvSpPr>
          <p:cNvPr id="40" name="Arrow"/>
          <p:cNvSpPr/>
          <p:nvPr/>
        </p:nvSpPr>
        <p:spPr>
          <a:xfrm>
            <a:off x="3520440" y="2811780"/>
            <a:ext cx="6858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1" name="Alias box"/>
          <p:cNvSpPr/>
          <p:nvPr/>
        </p:nvSpPr>
        <p:spPr>
          <a:xfrm>
            <a:off x="457200" y="3337560"/>
            <a:ext cx="30175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3337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fasting glucose</a:t>
            </a:r>
            <a:endParaRPr lang="en-US" sz="1800" dirty="0"/>
          </a:p>
        </p:txBody>
      </p:sp>
      <p:sp>
        <p:nvSpPr>
          <p:cNvPr id="43" name="Arrow"/>
          <p:cNvSpPr/>
          <p:nvPr/>
        </p:nvSpPr>
        <p:spPr>
          <a:xfrm>
            <a:off x="3520440" y="3680460"/>
            <a:ext cx="6858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4" name="Canonical node"/>
          <p:cNvSpPr/>
          <p:nvPr/>
        </p:nvSpPr>
        <p:spPr>
          <a:xfrm>
            <a:off x="4297680" y="1600200"/>
            <a:ext cx="1645920" cy="2423160"/>
          </a:xfrm>
          <a:prstGeom prst="roundRect">
            <a:avLst>
              <a:gd name="adj" fmla="val 4444"/>
            </a:avLst>
          </a:prstGeom>
          <a:solidFill>
            <a:srgbClr val="DCEBE6"/>
          </a:solidFill>
          <a:ln w="12700">
            <a:solidFill>
              <a:srgbClr val="DCEB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9768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FPG</a:t>
            </a:r>
            <a:endParaRPr lang="en-US" sz="3000" dirty="0"/>
          </a:p>
        </p:txBody>
      </p:sp>
      <p:sp>
        <p:nvSpPr>
          <p:cNvPr id="46" name="Text 44"/>
          <p:cNvSpPr txBox="1"/>
          <p:nvPr/>
        </p:nvSpPr>
        <p:spPr>
          <a:xfrm>
            <a:off x="429768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one Test node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206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Alias list fixed at design time, unlisted variants stay separate.</a:t>
            </a:r>
            <a:endParaRPr lang="en-US" sz="1400" dirty="0"/>
          </a:p>
        </p:txBody>
      </p:sp>
      <p:sp>
        <p:nvSpPr>
          <p:cNvPr id="48" name="Rule card"/>
          <p:cNvSpPr/>
          <p:nvPr/>
        </p:nvSpPr>
        <p:spPr>
          <a:xfrm>
            <a:off x="6309360" y="16002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160020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Names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0" y="1600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normalise the string, then apply the alias list</a:t>
            </a:r>
            <a:endParaRPr lang="en-US" sz="1600" dirty="0"/>
          </a:p>
        </p:txBody>
      </p:sp>
      <p:sp>
        <p:nvSpPr>
          <p:cNvPr id="51" name="Rule card"/>
          <p:cNvSpPr/>
          <p:nvPr/>
        </p:nvSpPr>
        <p:spPr>
          <a:xfrm>
            <a:off x="6309360" y="269748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92240" y="269748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Targets</a:t>
            </a:r>
            <a:endParaRPr lang="en-US" sz="20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2697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exact match on metric, units, operator, value</a:t>
            </a:r>
            <a:endParaRPr lang="en-US" sz="1600" dirty="0"/>
          </a:p>
        </p:txBody>
      </p:sp>
      <p:sp>
        <p:nvSpPr>
          <p:cNvPr id="54" name="Rule card"/>
          <p:cNvSpPr/>
          <p:nvPr/>
        </p:nvSpPr>
        <p:spPr>
          <a:xfrm>
            <a:off x="6309360" y="379476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92240" y="379476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Scope</a:t>
            </a:r>
            <a:endParaRPr lang="en-US" sz="2000" dirty="0"/>
          </a:p>
        </p:txBody>
      </p:sp>
      <p:sp>
        <p:nvSpPr>
          <p:cNvPr id="56" name="Text 54"/>
          <p:cNvSpPr txBox="1"/>
          <p:nvPr/>
        </p:nvSpPr>
        <p:spPr>
          <a:xfrm>
            <a:off x="7772400" y="3794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global types merge across the corpus, organisation-scoped only within one organisation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Integration</a:t>
            </a:r>
            <a:endParaRPr lang="en-US" sz="2000" dirty="0"/>
          </a:p>
        </p:txBody>
      </p:sp>
      <p:sp>
        <p:nvSpPr>
          <p:cNvPr id="58" name="Integration chip"/>
          <p:cNvSpPr/>
          <p:nvPr/>
        </p:nvSpPr>
        <p:spPr>
          <a:xfrm>
            <a:off x="457200" y="534924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94360" y="5349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LLM duplicates of canonical entities are dropped</a:t>
            </a:r>
            <a:endParaRPr lang="en-US" sz="1500" dirty="0"/>
          </a:p>
        </p:txBody>
      </p:sp>
      <p:sp>
        <p:nvSpPr>
          <p:cNvPr id="60" name="Integration chip"/>
          <p:cNvSpPr/>
          <p:nvPr/>
        </p:nvSpPr>
        <p:spPr>
          <a:xfrm>
            <a:off x="4251960" y="534924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389120" y="5349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duplicate relations collapse into one</a:t>
            </a:r>
            <a:endParaRPr lang="en-US" sz="1500" dirty="0"/>
          </a:p>
        </p:txBody>
      </p:sp>
      <p:sp>
        <p:nvSpPr>
          <p:cNvPr id="62" name="Integration chip"/>
          <p:cNvSpPr/>
          <p:nvPr/>
        </p:nvSpPr>
        <p:spPr>
          <a:xfrm>
            <a:off x="8046720" y="534924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183880" y="53492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provenance of merged records = union</a:t>
            </a:r>
            <a:endParaRPr lang="en-US" sz="1500" dirty="0"/>
          </a:p>
        </p:txBody>
      </p:sp>
      <p:sp>
        <p:nvSpPr>
          <p:cNvPr id="65" name="Dot">
            <a:extLst>
              <a:ext uri="{FF2B5EF4-FFF2-40B4-BE49-F238E27FC236}">
                <a16:creationId xmlns:a16="http://schemas.microsoft.com/office/drawing/2014/main" id="{74F6D994-00C3-52F4-D2F6-B6B1836FE5C2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7" name="Dot">
            <a:extLst>
              <a:ext uri="{FF2B5EF4-FFF2-40B4-BE49-F238E27FC236}">
                <a16:creationId xmlns:a16="http://schemas.microsoft.com/office/drawing/2014/main" id="{498617DE-2249-13E6-3C3B-F7E1C7F0CBBF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9" name="Dot">
            <a:extLst>
              <a:ext uri="{FF2B5EF4-FFF2-40B4-BE49-F238E27FC236}">
                <a16:creationId xmlns:a16="http://schemas.microsoft.com/office/drawing/2014/main" id="{51E28EB5-111C-A1B8-16E8-51AFA9CED2D3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Unit normalisation and equivalence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20 / 36</a:t>
            </a:r>
            <a:endParaRPr lang="en-US" sz="1200" dirty="0"/>
          </a:p>
        </p:txBody>
      </p:sp>
      <p:sp>
        <p:nvSpPr>
          <p:cNvPr id="35" name="Org box"/>
          <p:cNvSpPr/>
          <p:nvPr/>
        </p:nvSpPr>
        <p:spPr>
          <a:xfrm>
            <a:off x="548640" y="160020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ADA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2103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FPG ≥ 126 mg/dL</a:t>
            </a:r>
            <a:endParaRPr lang="en-US" sz="2400" dirty="0"/>
          </a:p>
        </p:txBody>
      </p:sp>
      <p:sp>
        <p:nvSpPr>
          <p:cNvPr id="38" name="Org box"/>
          <p:cNvSpPr/>
          <p:nvPr/>
        </p:nvSpPr>
        <p:spPr>
          <a:xfrm>
            <a:off x="548640" y="297180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IDF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347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FPG ≥ 7.0 mmol/L</a:t>
            </a:r>
            <a:endParaRPr lang="en-US" sz="2400" dirty="0"/>
          </a:p>
        </p:txBody>
      </p:sp>
      <p:sp>
        <p:nvSpPr>
          <p:cNvPr id="41" name="Org box"/>
          <p:cNvSpPr/>
          <p:nvPr/>
        </p:nvSpPr>
        <p:spPr>
          <a:xfrm>
            <a:off x="548640" y="4343400"/>
            <a:ext cx="42062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Diabetes Canada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4846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FPG ≥ 7.0 mmol/L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4937760" y="1691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÷ 18.0 = 7.0 mmol/L</a:t>
            </a:r>
            <a:endParaRPr lang="en-US" sz="1800" dirty="0"/>
          </a:p>
        </p:txBody>
      </p:sp>
      <p:sp>
        <p:nvSpPr>
          <p:cNvPr id="45" name="Arrow"/>
          <p:cNvSpPr/>
          <p:nvPr/>
        </p:nvSpPr>
        <p:spPr>
          <a:xfrm>
            <a:off x="4846320" y="2194560"/>
            <a:ext cx="22860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6" name="Arrow"/>
          <p:cNvSpPr/>
          <p:nvPr/>
        </p:nvSpPr>
        <p:spPr>
          <a:xfrm>
            <a:off x="4846320" y="3566160"/>
            <a:ext cx="22860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7" name="Arrow"/>
          <p:cNvSpPr/>
          <p:nvPr/>
        </p:nvSpPr>
        <p:spPr>
          <a:xfrm>
            <a:off x="4846320" y="4937760"/>
            <a:ext cx="2286000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8" name="Rule box"/>
          <p:cNvSpPr/>
          <p:nvPr/>
        </p:nvSpPr>
        <p:spPr>
          <a:xfrm>
            <a:off x="7223760" y="1600200"/>
            <a:ext cx="4480560" cy="3886200"/>
          </a:xfrm>
          <a:prstGeom prst="roundRect">
            <a:avLst>
              <a:gd name="adj" fmla="val 1882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40664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EQUIVALENT_TO edge</a:t>
            </a:r>
            <a:endParaRPr lang="en-US" sz="2200" dirty="0"/>
          </a:p>
        </p:txBody>
      </p:sp>
      <p:sp>
        <p:nvSpPr>
          <p:cNvPr id="50" name="Text"/>
          <p:cNvSpPr txBox="1"/>
          <p:nvPr/>
        </p:nvSpPr>
        <p:spPr>
          <a:xfrm>
            <a:off x="7498080" y="22860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same metric</a:t>
            </a:r>
            <a:endParaRPr lang="en-US" sz="20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same operator</a:t>
            </a:r>
            <a:endParaRPr lang="en-US" sz="20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same rounded value</a:t>
            </a:r>
            <a:endParaRPr lang="en-US" sz="20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different organisations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7406640" y="4572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Stated by no guideline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</a:rPr>
              <a:t>The original value and unit stay on the node.</a:t>
            </a:r>
            <a:endParaRPr lang="en-US" sz="1600" dirty="0"/>
          </a:p>
        </p:txBody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5239AEBF-5345-6F94-26C4-59B69280F68D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6" name="Dot">
            <a:extLst>
              <a:ext uri="{FF2B5EF4-FFF2-40B4-BE49-F238E27FC236}">
                <a16:creationId xmlns:a16="http://schemas.microsoft.com/office/drawing/2014/main" id="{65D8BD59-4047-A54A-F401-11ECE3492107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8" name="Dot">
            <a:extLst>
              <a:ext uri="{FF2B5EF4-FFF2-40B4-BE49-F238E27FC236}">
                <a16:creationId xmlns:a16="http://schemas.microsoft.com/office/drawing/2014/main" id="{C46D58A7-B8C1-D6FA-C048-5434516C72B6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Unit conversions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21 / 36</a:t>
            </a:r>
            <a:endParaRPr lang="en-US" sz="1200" dirty="0"/>
          </a:p>
        </p:txBody>
      </p:sp>
      <p:sp>
        <p:nvSpPr>
          <p:cNvPr id="35" name="Formula 1"/>
          <p:cNvSpPr/>
          <p:nvPr/>
        </p:nvSpPr>
        <p:spPr>
          <a:xfrm>
            <a:off x="548640" y="164592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mmol/L = mg/dL ÷ 18.0</a:t>
            </a:r>
            <a:endParaRPr lang="en-US" sz="34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2514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126 mg/dL → 7.0 mmol/L. Using 18.016 gives the same rounded values for this corpus.</a:t>
            </a:r>
            <a:endParaRPr lang="en-US" sz="1600" dirty="0"/>
          </a:p>
        </p:txBody>
      </p:sp>
      <p:sp>
        <p:nvSpPr>
          <p:cNvPr id="38" name="Formula 2"/>
          <p:cNvSpPr/>
          <p:nvPr/>
        </p:nvSpPr>
        <p:spPr>
          <a:xfrm>
            <a:off x="548640" y="338328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</a:rPr>
              <a:t>HbA1c (mmol/mol) = (HbA1c % − 2.152) ÷ 0.09148</a:t>
            </a:r>
            <a:endParaRPr lang="en-US" sz="34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IFCC relation (Hoelzel et al., 2004). Both forms are stored on the node.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HbA1c is converted and stored but not compared, so it creates no equivalence edges.</a:t>
            </a:r>
            <a:endParaRPr lang="en-US" sz="2000" dirty="0"/>
          </a:p>
        </p:txBody>
      </p:sp>
      <p:sp>
        <p:nvSpPr>
          <p:cNvPr id="43" name="Dot">
            <a:extLst>
              <a:ext uri="{FF2B5EF4-FFF2-40B4-BE49-F238E27FC236}">
                <a16:creationId xmlns:a16="http://schemas.microsoft.com/office/drawing/2014/main" id="{85056B96-E375-4A86-1028-B6F083A90FA5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5" name="Dot">
            <a:extLst>
              <a:ext uri="{FF2B5EF4-FFF2-40B4-BE49-F238E27FC236}">
                <a16:creationId xmlns:a16="http://schemas.microsoft.com/office/drawing/2014/main" id="{B683843D-61E1-D2B9-4BE9-9DF96FD04B61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7" name="Dot">
            <a:extLst>
              <a:ext uri="{FF2B5EF4-FFF2-40B4-BE49-F238E27FC236}">
                <a16:creationId xmlns:a16="http://schemas.microsoft.com/office/drawing/2014/main" id="{390FA451-5B79-D41B-A04B-0BA110098E92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Question generation: the graph decides what is asked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22 / 36</a:t>
            </a:r>
            <a:endParaRPr lang="en-US" sz="1200" dirty="0"/>
          </a:p>
        </p:txBody>
      </p:sp>
      <p:sp>
        <p:nvSpPr>
          <p:cNvPr id="35" name="Stage box"/>
          <p:cNvSpPr/>
          <p:nvPr/>
        </p:nvSpPr>
        <p:spPr>
          <a:xfrm>
            <a:off x="457200" y="16002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α  Targeting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rule-based, no LLM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2697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Anchor: Condition, has_target, FPG ≥ 7.0 mmol/L, plus guideline and page</a:t>
            </a:r>
            <a:endParaRPr lang="en-US" sz="2100" dirty="0"/>
          </a:p>
        </p:txBody>
      </p:sp>
      <p:sp>
        <p:nvSpPr>
          <p:cNvPr id="39" name="Arrow"/>
          <p:cNvSpPr/>
          <p:nvPr/>
        </p:nvSpPr>
        <p:spPr>
          <a:xfrm>
            <a:off x="4041648" y="3291840"/>
            <a:ext cx="329184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0" name="Stage box"/>
          <p:cNvSpPr/>
          <p:nvPr/>
        </p:nvSpPr>
        <p:spPr>
          <a:xfrm>
            <a:off x="4389120" y="160020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β  Formulation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 wording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0" y="2697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00" dirty="0">
                <a:solidFill>
                  <a:schemeClr val="tx1"/>
                </a:solidFill>
              </a:rPr>
              <a:t>“</a:t>
            </a:r>
            <a:r>
              <a:rPr lang="en-US" sz="2400" dirty="0"/>
              <a:t>What is the threshold for diagnosing diabetes in adults using a Fasting Plasma Glucose (FPG)”</a:t>
            </a:r>
            <a:endParaRPr lang="en-US" sz="2100" dirty="0"/>
          </a:p>
        </p:txBody>
      </p:sp>
      <p:sp>
        <p:nvSpPr>
          <p:cNvPr id="44" name="Arrow"/>
          <p:cNvSpPr/>
          <p:nvPr/>
        </p:nvSpPr>
        <p:spPr>
          <a:xfrm>
            <a:off x="7973568" y="3291840"/>
            <a:ext cx="329184" cy="0"/>
          </a:xfrm>
          <a:prstGeom prst="line">
            <a:avLst/>
          </a:prstGeom>
          <a:noFill/>
          <a:ln w="3175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45" name="Stage box"/>
          <p:cNvSpPr/>
          <p:nvPr/>
        </p:nvSpPr>
        <p:spPr>
          <a:xfrm>
            <a:off x="8321040" y="1600200"/>
            <a:ext cx="35661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44"/>
              <p:cNvSpPr txBox="1"/>
              <p:nvPr/>
            </p:nvSpPr>
            <p:spPr>
              <a:xfrm>
                <a:off x="8503920" y="1691640"/>
                <a:ext cx="320040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200" b="1" dirty="0">
                    <a:solidFill>
                      <a:schemeClr val="accent1"/>
                    </a:solidFill>
                    <a:latin typeface="Garamond" panose="020204040303010108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sz="2200" b="1" dirty="0">
                    <a:solidFill>
                      <a:schemeClr val="accent1"/>
                    </a:solidFill>
                  </a:rPr>
                  <a:t>  Validation</a:t>
                </a:r>
                <a:endParaRPr lang="en-US" sz="2200" dirty="0"/>
              </a:p>
            </p:txBody>
          </p:sp>
        </mc:Choice>
        <mc:Fallback xmlns="">
          <p:sp>
            <p:nvSpPr>
              <p:cNvPr id="46" name="Tex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1691640"/>
                <a:ext cx="3200400" cy="502920"/>
              </a:xfrm>
              <a:prstGeom prst="rect">
                <a:avLst/>
              </a:prstGeom>
              <a:blipFill>
                <a:blip r:embed="rId3"/>
                <a:stretch>
                  <a:fillRect l="-952" t="-2439" b="-1585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45"/>
          <p:cNvSpPr txBox="1"/>
          <p:nvPr/>
        </p:nvSpPr>
        <p:spPr>
          <a:xfrm>
            <a:off x="850392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rule-based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503920" y="269748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chemeClr val="tx1"/>
                </a:solidFill>
              </a:rPr>
              <a:t>Answer 7.0 mmol/L or higher comes from the graph node, not from the LLM</a:t>
            </a:r>
            <a:endParaRPr lang="en-US" sz="2100" dirty="0"/>
          </a:p>
        </p:txBody>
      </p:sp>
      <p:sp>
        <p:nvSpPr>
          <p:cNvPr id="49" name="Takeaway"/>
          <p:cNvSpPr/>
          <p:nvPr/>
        </p:nvSpPr>
        <p:spPr>
          <a:xfrm>
            <a:off x="457200" y="5257800"/>
            <a:ext cx="11247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The graph decides </a:t>
            </a:r>
            <a:r>
              <a:rPr lang="en-US" sz="2400" b="1" dirty="0">
                <a:solidFill>
                  <a:schemeClr val="accent1"/>
                </a:solidFill>
              </a:rPr>
              <a:t>what</a:t>
            </a:r>
            <a:r>
              <a:rPr lang="en-US" sz="2400" b="1" dirty="0">
                <a:solidFill>
                  <a:schemeClr val="tx1"/>
                </a:solidFill>
              </a:rPr>
              <a:t> is asked. The LLM decides </a:t>
            </a:r>
            <a:r>
              <a:rPr lang="en-US" sz="2400" b="1" dirty="0">
                <a:solidFill>
                  <a:schemeClr val="accent1"/>
                </a:solidFill>
              </a:rPr>
              <a:t>how</a:t>
            </a:r>
            <a:r>
              <a:rPr lang="en-US" sz="2400" b="1" dirty="0">
                <a:solidFill>
                  <a:schemeClr val="tx1"/>
                </a:solidFill>
              </a:rPr>
              <a:t> it is phrased.</a:t>
            </a:r>
            <a:endParaRPr lang="en-US" sz="2400" dirty="0"/>
          </a:p>
        </p:txBody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5F78CB9B-6038-822E-5360-B28A6946A320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CC8ACE31-438D-65B6-B2C2-DD06C59E123E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Validation: three checks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23 / 36</a:t>
            </a:r>
            <a:endParaRPr lang="en-US" sz="1200" dirty="0"/>
          </a:p>
        </p:txBody>
      </p:sp>
      <p:sp>
        <p:nvSpPr>
          <p:cNvPr id="35" name="Number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37160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Answer matches the anchor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2103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answer key consistency</a:t>
            </a:r>
            <a:endParaRPr lang="en-US" sz="1600" dirty="0"/>
          </a:p>
        </p:txBody>
      </p:sp>
      <p:sp>
        <p:nvSpPr>
          <p:cNvPr id="38" name="Number 2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 numbers outside the anchor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1371600" y="3337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hallucinated number detection</a:t>
            </a:r>
            <a:endParaRPr lang="en-US" sz="1600" dirty="0"/>
          </a:p>
        </p:txBody>
      </p:sp>
      <p:sp>
        <p:nvSpPr>
          <p:cNvPr id="41" name="Number 3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13716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 wrong organisation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guideline attribution</a:t>
            </a:r>
            <a:endParaRPr lang="en-US" sz="1600" dirty="0"/>
          </a:p>
        </p:txBody>
      </p:sp>
      <p:sp>
        <p:nvSpPr>
          <p:cNvPr id="44" name="Pass box"/>
          <p:cNvSpPr/>
          <p:nvPr/>
        </p:nvSpPr>
        <p:spPr>
          <a:xfrm>
            <a:off x="6766560" y="1554480"/>
            <a:ext cx="4937760" cy="1828800"/>
          </a:xfrm>
          <a:prstGeom prst="roundRect">
            <a:avLst>
              <a:gd name="adj" fmla="val 4000"/>
            </a:avLst>
          </a:prstGeom>
          <a:solidFill>
            <a:srgbClr val="E3F1EC"/>
          </a:solidFill>
          <a:ln w="12700">
            <a:solidFill>
              <a:srgbClr val="E3F1E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4944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Pass: Q+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69494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added to the catalogue</a:t>
            </a:r>
            <a:endParaRPr lang="en-US" sz="1600" dirty="0"/>
          </a:p>
        </p:txBody>
      </p:sp>
      <p:sp>
        <p:nvSpPr>
          <p:cNvPr id="47" name="Fail box"/>
          <p:cNvSpPr/>
          <p:nvPr/>
        </p:nvSpPr>
        <p:spPr>
          <a:xfrm>
            <a:off x="6766560" y="361188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4944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Fail: Q−</a:t>
            </a:r>
            <a:endParaRPr lang="en-US" sz="2200" dirty="0"/>
          </a:p>
        </p:txBody>
      </p:sp>
      <p:sp>
        <p:nvSpPr>
          <p:cNvPr id="49" name="Text 47"/>
          <p:cNvSpPr txBox="1"/>
          <p:nvPr/>
        </p:nvSpPr>
        <p:spPr>
          <a:xfrm>
            <a:off x="6949440" y="41605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Example: question says 8.0 mmol/L, check 2 flags it. Goes to manual review, not thrown away.</a:t>
            </a:r>
            <a:endParaRPr lang="en-US" sz="1600" dirty="0"/>
          </a:p>
        </p:txBody>
      </p:sp>
      <p:sp>
        <p:nvSpPr>
          <p:cNvPr id="50" name="Caveat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Text"/>
          <p:cNvSpPr txBox="1"/>
          <p:nvPr/>
        </p:nvSpPr>
        <p:spPr>
          <a:xfrm>
            <a:off x="731520" y="568756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Checks consistency with the anchor, </a:t>
            </a:r>
            <a:r>
              <a:rPr lang="en-US" sz="2000" b="1" dirty="0">
                <a:solidFill>
                  <a:schemeClr val="accent1"/>
                </a:solidFill>
              </a:rPr>
              <a:t>not clinical correctness</a:t>
            </a:r>
            <a:endParaRPr lang="en-US" sz="2000" dirty="0"/>
          </a:p>
        </p:txBody>
      </p:sp>
      <p:sp>
        <p:nvSpPr>
          <p:cNvPr id="53" name="Dot">
            <a:extLst>
              <a:ext uri="{FF2B5EF4-FFF2-40B4-BE49-F238E27FC236}">
                <a16:creationId xmlns:a16="http://schemas.microsoft.com/office/drawing/2014/main" id="{7B2AF724-9EBD-36FE-4906-C770609D5595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5" name="Dot">
            <a:extLst>
              <a:ext uri="{FF2B5EF4-FFF2-40B4-BE49-F238E27FC236}">
                <a16:creationId xmlns:a16="http://schemas.microsoft.com/office/drawing/2014/main" id="{61D7BE54-25BD-1A27-823C-B37420E6CFB6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7" name="Dot">
            <a:extLst>
              <a:ext uri="{FF2B5EF4-FFF2-40B4-BE49-F238E27FC236}">
                <a16:creationId xmlns:a16="http://schemas.microsoft.com/office/drawing/2014/main" id="{C5778549-C73F-0E85-E9F6-531556C6AFFF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Outline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24 / 36</a:t>
            </a:r>
            <a:endParaRPr lang="en-US" sz="1200" dirty="0"/>
          </a:p>
        </p:txBody>
      </p:sp>
      <p:sp>
        <p:nvSpPr>
          <p:cNvPr id="35" name="Number 1"/>
          <p:cNvSpPr/>
          <p:nvPr/>
        </p:nvSpPr>
        <p:spPr>
          <a:xfrm>
            <a:off x="1645920" y="1645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1581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15819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Why comparing guidelines is hard, aims, contributions</a:t>
            </a:r>
            <a:endParaRPr lang="en-US" sz="1800" dirty="0"/>
          </a:p>
        </p:txBody>
      </p:sp>
      <p:sp>
        <p:nvSpPr>
          <p:cNvPr id="38" name="Number 2"/>
          <p:cNvSpPr/>
          <p:nvPr/>
        </p:nvSpPr>
        <p:spPr>
          <a:xfrm>
            <a:off x="1645920" y="25603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2496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24963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Knowledge graphs, LLMs and grounding, related work</a:t>
            </a:r>
            <a:endParaRPr lang="en-US" sz="1800" dirty="0"/>
          </a:p>
        </p:txBody>
      </p:sp>
      <p:sp>
        <p:nvSpPr>
          <p:cNvPr id="41" name="Number 3"/>
          <p:cNvSpPr/>
          <p:nvPr/>
        </p:nvSpPr>
        <p:spPr>
          <a:xfrm>
            <a:off x="1645920" y="34747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246888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Approach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5120640" y="34107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Pipeline, normalisation, question generation</a:t>
            </a:r>
            <a:endParaRPr lang="en-US" sz="1800" dirty="0"/>
          </a:p>
        </p:txBody>
      </p:sp>
      <p:sp>
        <p:nvSpPr>
          <p:cNvPr id="44" name="Highlight"/>
          <p:cNvSpPr/>
          <p:nvPr/>
        </p:nvSpPr>
        <p:spPr>
          <a:xfrm>
            <a:off x="1463040" y="4270248"/>
            <a:ext cx="9235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Number 4"/>
          <p:cNvSpPr/>
          <p:nvPr/>
        </p:nvSpPr>
        <p:spPr>
          <a:xfrm>
            <a:off x="164592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2468880" y="4325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Evaluation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5120640" y="4325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Graph, equivalence links, questions, clinical review</a:t>
            </a:r>
            <a:endParaRPr lang="en-US" sz="1800" dirty="0"/>
          </a:p>
        </p:txBody>
      </p:sp>
      <p:sp>
        <p:nvSpPr>
          <p:cNvPr id="48" name="Number 5"/>
          <p:cNvSpPr/>
          <p:nvPr/>
        </p:nvSpPr>
        <p:spPr>
          <a:xfrm>
            <a:off x="1645920" y="53035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2468880" y="5239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Wrap-up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52395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What it shows, limits, conclusions</a:t>
            </a:r>
            <a:endParaRPr lang="en-US" sz="1800" dirty="0"/>
          </a:p>
        </p:txBody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B09FB476-CC73-88BD-1795-D3DC6D9A2F46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209EED11-D101-3616-CF10-53F26607B6A6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6" name="Dot">
            <a:extLst>
              <a:ext uri="{FF2B5EF4-FFF2-40B4-BE49-F238E27FC236}">
                <a16:creationId xmlns:a16="http://schemas.microsoft.com/office/drawing/2014/main" id="{8778B8EB-77F8-E204-7CDB-E411AA964418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8" name="Dot">
            <a:extLst>
              <a:ext uri="{FF2B5EF4-FFF2-40B4-BE49-F238E27FC236}">
                <a16:creationId xmlns:a16="http://schemas.microsoft.com/office/drawing/2014/main" id="{42F12D53-5B1A-4B7D-67F6-F75D09FE59EF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Experimental setup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25 / 36</a:t>
            </a:r>
            <a:endParaRPr lang="en-US" sz="1200" dirty="0"/>
          </a:p>
        </p:txBody>
      </p:sp>
      <p:sp>
        <p:nvSpPr>
          <p:cNvPr id="35" name="Setup card"/>
          <p:cNvSpPr/>
          <p:nvPr/>
        </p:nvSpPr>
        <p:spPr>
          <a:xfrm>
            <a:off x="457200" y="1508760"/>
            <a:ext cx="36118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Corpus</a:t>
            </a:r>
            <a:endParaRPr lang="en-US" sz="2200" dirty="0"/>
          </a:p>
        </p:txBody>
      </p:sp>
      <p:sp>
        <p:nvSpPr>
          <p:cNvPr id="37" name="Text"/>
          <p:cNvSpPr txBox="1"/>
          <p:nvPr/>
        </p:nvSpPr>
        <p:spPr>
          <a:xfrm>
            <a:off x="685800" y="2423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8 documents, 4 organisations</a:t>
            </a:r>
            <a:endParaRPr lang="en-US" sz="18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 pipeline</a:t>
            </a:r>
            <a:endParaRPr lang="en-US" sz="1800" dirty="0"/>
          </a:p>
        </p:txBody>
      </p:sp>
      <p:sp>
        <p:nvSpPr>
          <p:cNvPr id="38" name="Setup card"/>
          <p:cNvSpPr/>
          <p:nvPr/>
        </p:nvSpPr>
        <p:spPr>
          <a:xfrm>
            <a:off x="4297680" y="1508760"/>
            <a:ext cx="36118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2628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Question runs (not pooled)</a:t>
            </a:r>
            <a:endParaRPr lang="en-US" sz="2200" dirty="0"/>
          </a:p>
        </p:txBody>
      </p:sp>
      <p:sp>
        <p:nvSpPr>
          <p:cNvPr id="40" name="Text"/>
          <p:cNvSpPr txBox="1"/>
          <p:nvPr/>
        </p:nvSpPr>
        <p:spPr>
          <a:xfrm>
            <a:off x="4526280" y="2423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GPT-4o-mini: full run, 1,289 questions</a:t>
            </a:r>
            <a:endParaRPr lang="en-US" sz="18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Claude Opus 4.8: partial run, 491 questions, used for review</a:t>
            </a:r>
            <a:endParaRPr lang="en-US" sz="1800" dirty="0"/>
          </a:p>
        </p:txBody>
      </p:sp>
      <p:sp>
        <p:nvSpPr>
          <p:cNvPr id="41" name="Setup card"/>
          <p:cNvSpPr/>
          <p:nvPr/>
        </p:nvSpPr>
        <p:spPr>
          <a:xfrm>
            <a:off x="8138160" y="1508760"/>
            <a:ext cx="36118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6676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Baseline</a:t>
            </a:r>
            <a:endParaRPr lang="en-US" sz="2200" dirty="0"/>
          </a:p>
        </p:txBody>
      </p:sp>
      <p:sp>
        <p:nvSpPr>
          <p:cNvPr id="43" name="Text"/>
          <p:cNvSpPr txBox="1"/>
          <p:nvPr/>
        </p:nvSpPr>
        <p:spPr>
          <a:xfrm>
            <a:off x="8366760" y="2423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rule-only generator</a:t>
            </a:r>
            <a:endParaRPr lang="en-US" sz="1800" dirty="0"/>
          </a:p>
          <a:p>
            <a:pPr marL="254000" indent="-2540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template question per anchor, no LLM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Evaluation questions</a:t>
            </a:r>
            <a:endParaRPr lang="en-US" sz="1800" dirty="0"/>
          </a:p>
        </p:txBody>
      </p:sp>
      <p:sp>
        <p:nvSpPr>
          <p:cNvPr id="45" name="Question chip"/>
          <p:cNvSpPr/>
          <p:nvPr/>
        </p:nvSpPr>
        <p:spPr>
          <a:xfrm>
            <a:off x="457200" y="539496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394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Four formats, one graph?</a:t>
            </a:r>
            <a:endParaRPr lang="en-US" sz="1500" dirty="0"/>
          </a:p>
        </p:txBody>
      </p:sp>
      <p:sp>
        <p:nvSpPr>
          <p:cNvPr id="47" name="Question chip"/>
          <p:cNvSpPr/>
          <p:nvPr/>
        </p:nvSpPr>
        <p:spPr>
          <a:xfrm>
            <a:off x="3291840" y="539496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83280" y="5394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Cross-guideline links?</a:t>
            </a:r>
            <a:endParaRPr lang="en-US" sz="1500" dirty="0"/>
          </a:p>
        </p:txBody>
      </p:sp>
      <p:sp>
        <p:nvSpPr>
          <p:cNvPr id="49" name="Question chip"/>
          <p:cNvSpPr/>
          <p:nvPr/>
        </p:nvSpPr>
        <p:spPr>
          <a:xfrm>
            <a:off x="6126480" y="539496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17920" y="5394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Consistent, varied questions?</a:t>
            </a:r>
            <a:endParaRPr lang="en-US" sz="1500" dirty="0"/>
          </a:p>
        </p:txBody>
      </p:sp>
      <p:sp>
        <p:nvSpPr>
          <p:cNvPr id="51" name="Question chip"/>
          <p:cNvSpPr/>
          <p:nvPr/>
        </p:nvSpPr>
        <p:spPr>
          <a:xfrm>
            <a:off x="8961120" y="539496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052560" y="53949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Sound for clinicians?</a:t>
            </a:r>
            <a:endParaRPr lang="en-US" sz="1500" dirty="0"/>
          </a:p>
        </p:txBody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E0D37E93-F717-9151-CE26-5D081BB144A9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6" name="Dot">
            <a:extLst>
              <a:ext uri="{FF2B5EF4-FFF2-40B4-BE49-F238E27FC236}">
                <a16:creationId xmlns:a16="http://schemas.microsoft.com/office/drawing/2014/main" id="{E4FCF43B-58CF-284B-1580-86462D980FF2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Two question-generation runs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26 / 36</a:t>
            </a:r>
            <a:endParaRPr lang="en-US" sz="1200" dirty="0"/>
          </a:p>
        </p:txBody>
      </p:sp>
      <p:sp>
        <p:nvSpPr>
          <p:cNvPr id="35" name="Run 1"/>
          <p:cNvSpPr/>
          <p:nvPr/>
        </p:nvSpPr>
        <p:spPr>
          <a:xfrm>
            <a:off x="457200" y="1508760"/>
            <a:ext cx="553212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GPT-4o-mini</a:t>
            </a:r>
            <a:endParaRPr lang="en-US" sz="2400" dirty="0"/>
          </a:p>
        </p:txBody>
      </p:sp>
      <p:sp>
        <p:nvSpPr>
          <p:cNvPr id="37" name="Text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full run</a:t>
            </a:r>
            <a:endParaRPr lang="en-US" sz="21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1,289 questions, 1,280 accepted</a:t>
            </a:r>
            <a:endParaRPr lang="en-US" sz="21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source of the catalogue statistics</a:t>
            </a:r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400" dirty="0"/>
              <a:t>3048</a:t>
            </a:r>
            <a:r>
              <a:rPr lang="en-US" sz="2100" dirty="0"/>
              <a:t> Reformulations</a:t>
            </a:r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400" dirty="0"/>
              <a:t>4328</a:t>
            </a:r>
            <a:r>
              <a:rPr lang="en-US" sz="2100" dirty="0"/>
              <a:t> Total Phrasings</a:t>
            </a:r>
            <a:endParaRPr lang="en-US" sz="2100" dirty="0">
              <a:solidFill>
                <a:schemeClr val="tx1"/>
              </a:solidFill>
            </a:endParaRPr>
          </a:p>
          <a:p>
            <a:pPr algn="l">
              <a:spcAft>
                <a:spcPts val="1200"/>
              </a:spcAft>
              <a:buSzPct val="100000"/>
            </a:pPr>
            <a:endParaRPr lang="en-US" sz="2100" dirty="0"/>
          </a:p>
        </p:txBody>
      </p:sp>
      <p:sp>
        <p:nvSpPr>
          <p:cNvPr id="38" name="Run 2"/>
          <p:cNvSpPr/>
          <p:nvPr/>
        </p:nvSpPr>
        <p:spPr>
          <a:xfrm>
            <a:off x="6217920" y="1508760"/>
            <a:ext cx="548640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Claude Opus 4.8</a:t>
            </a:r>
            <a:endParaRPr lang="en-US" sz="2400" dirty="0"/>
          </a:p>
        </p:txBody>
      </p:sp>
      <p:sp>
        <p:nvSpPr>
          <p:cNvPr id="40" name="Text"/>
          <p:cNvSpPr txBox="1"/>
          <p:nvPr/>
        </p:nvSpPr>
        <p:spPr>
          <a:xfrm>
            <a:off x="6492240" y="22860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partial run, stopped early (token cost)</a:t>
            </a:r>
            <a:endParaRPr lang="en-US" sz="21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491 validated questions</a:t>
            </a:r>
            <a:endParaRPr lang="en-US" sz="21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source of the 30 reviewed questions</a:t>
            </a:r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/>
              <a:t>1035 Reformulations</a:t>
            </a:r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1526 Total Phrasings</a:t>
            </a:r>
          </a:p>
          <a:p>
            <a:pPr marL="342900" indent="-342900" algn="l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two runs are never pooled.</a:t>
            </a:r>
            <a:endParaRPr lang="en-US" sz="2000" dirty="0"/>
          </a:p>
        </p:txBody>
      </p:sp>
      <p:sp>
        <p:nvSpPr>
          <p:cNvPr id="43" name="Dot">
            <a:extLst>
              <a:ext uri="{FF2B5EF4-FFF2-40B4-BE49-F238E27FC236}">
                <a16:creationId xmlns:a16="http://schemas.microsoft.com/office/drawing/2014/main" id="{3F46343B-9BC0-890E-55E9-FD90225DB35B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5" name="Dot">
            <a:extLst>
              <a:ext uri="{FF2B5EF4-FFF2-40B4-BE49-F238E27FC236}">
                <a16:creationId xmlns:a16="http://schemas.microsoft.com/office/drawing/2014/main" id="{0F457404-935D-90BD-D2A9-E2A9BA0399CA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7" name="Dot">
            <a:extLst>
              <a:ext uri="{FF2B5EF4-FFF2-40B4-BE49-F238E27FC236}">
                <a16:creationId xmlns:a16="http://schemas.microsoft.com/office/drawing/2014/main" id="{8405E2AB-72F5-10F9-29A4-6A7B43A4B0DB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The final graph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27 / 36</a:t>
            </a:r>
            <a:endParaRPr lang="en-US" sz="1200" dirty="0"/>
          </a:p>
        </p:txBody>
      </p:sp>
      <p:sp>
        <p:nvSpPr>
          <p:cNvPr id="35" name="Tile"/>
          <p:cNvSpPr/>
          <p:nvPr/>
        </p:nvSpPr>
        <p:spPr>
          <a:xfrm>
            <a:off x="457200" y="1508760"/>
            <a:ext cx="3657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160020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2,503</a:t>
            </a:r>
            <a:endParaRPr lang="en-US" sz="36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230428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nodes, 13 types</a:t>
            </a:r>
            <a:endParaRPr lang="en-US" sz="1400" dirty="0"/>
          </a:p>
        </p:txBody>
      </p:sp>
      <p:sp>
        <p:nvSpPr>
          <p:cNvPr id="38" name="Tile"/>
          <p:cNvSpPr/>
          <p:nvPr/>
        </p:nvSpPr>
        <p:spPr>
          <a:xfrm>
            <a:off x="457200" y="3063240"/>
            <a:ext cx="3657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315468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3,485</a:t>
            </a:r>
            <a:endParaRPr lang="en-US" sz="36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385876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edges, 18 types</a:t>
            </a:r>
            <a:endParaRPr lang="en-US" sz="1400" dirty="0"/>
          </a:p>
        </p:txBody>
      </p:sp>
      <p:sp>
        <p:nvSpPr>
          <p:cNvPr id="41" name="Tile"/>
          <p:cNvSpPr/>
          <p:nvPr/>
        </p:nvSpPr>
        <p:spPr>
          <a:xfrm>
            <a:off x="457200" y="4617720"/>
            <a:ext cx="36576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4709160"/>
            <a:ext cx="3383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2,275 → 1,942</a:t>
            </a:r>
            <a:endParaRPr lang="en-US" sz="36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5413248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LLM entities after deduplication</a:t>
            </a:r>
            <a:endParaRPr lang="en-US" sz="1400" dirty="0"/>
          </a:p>
        </p:txBody>
      </p:sp>
      <p:graphicFrame>
        <p:nvGraphicFramePr>
          <p:cNvPr id="44" name="Chart 0"/>
          <p:cNvGraphicFramePr/>
          <p:nvPr>
            <p:extLst>
              <p:ext uri="{D42A27DB-BD31-4B8C-83A1-F6EECF244321}">
                <p14:modId xmlns:p14="http://schemas.microsoft.com/office/powerpoint/2010/main" val="1323855814"/>
              </p:ext>
            </p:extLst>
          </p:nvPr>
        </p:nvGraphicFramePr>
        <p:xfrm>
          <a:off x="4389118" y="1417320"/>
          <a:ext cx="6907531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6" name="Dot">
            <a:extLst>
              <a:ext uri="{FF2B5EF4-FFF2-40B4-BE49-F238E27FC236}">
                <a16:creationId xmlns:a16="http://schemas.microsoft.com/office/drawing/2014/main" id="{3454CA7F-0377-8F73-4A05-025DF5D21545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8" name="Dot">
            <a:extLst>
              <a:ext uri="{FF2B5EF4-FFF2-40B4-BE49-F238E27FC236}">
                <a16:creationId xmlns:a16="http://schemas.microsoft.com/office/drawing/2014/main" id="{61F8A1F8-45A2-DEDF-6A34-4FF402F32908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09843D40-B299-BE90-2743-C9AD09978192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Cross-guideline equivalence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28 / 36</a:t>
            </a:r>
            <a:endParaRPr lang="en-US" sz="1200" dirty="0"/>
          </a:p>
        </p:txBody>
      </p:sp>
      <p:pic>
        <p:nvPicPr>
          <p:cNvPr id="35" name="Equivalence figure" descr="Eight EQUIVALENT_TO edges between ADA, IDF and Diabetes Canada glucose threshold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17320"/>
            <a:ext cx="4846320" cy="4846320"/>
          </a:xfrm>
          <a:prstGeom prst="rect">
            <a:avLst/>
          </a:prstGeom>
        </p:spPr>
      </p:pic>
      <p:sp>
        <p:nvSpPr>
          <p:cNvPr id="36" name="Tile"/>
          <p:cNvSpPr/>
          <p:nvPr/>
        </p:nvSpPr>
        <p:spPr>
          <a:xfrm>
            <a:off x="5760720" y="150876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897880" y="160020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5897880" y="230428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EQUIVALENT_TO edges</a:t>
            </a:r>
            <a:endParaRPr lang="en-US" sz="1400" dirty="0"/>
          </a:p>
        </p:txBody>
      </p:sp>
      <p:sp>
        <p:nvSpPr>
          <p:cNvPr id="39" name="Tile"/>
          <p:cNvSpPr/>
          <p:nvPr/>
        </p:nvSpPr>
        <p:spPr>
          <a:xfrm>
            <a:off x="8961120" y="150876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098280" y="160020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3</a:t>
            </a:r>
            <a:endParaRPr lang="en-US" sz="3600" dirty="0"/>
          </a:p>
        </p:txBody>
      </p:sp>
      <p:sp>
        <p:nvSpPr>
          <p:cNvPr id="41" name="Text 38"/>
          <p:cNvSpPr txBox="1"/>
          <p:nvPr/>
        </p:nvSpPr>
        <p:spPr>
          <a:xfrm>
            <a:off x="9098280" y="230428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organisations agree on two thresholds</a:t>
            </a:r>
            <a:endParaRPr lang="en-US" sz="1400" dirty="0"/>
          </a:p>
        </p:txBody>
      </p:sp>
      <p:sp>
        <p:nvSpPr>
          <p:cNvPr id="42" name="Text"/>
          <p:cNvSpPr txBox="1"/>
          <p:nvPr/>
        </p:nvSpPr>
        <p:spPr>
          <a:xfrm>
            <a:off x="5760720" y="3200400"/>
            <a:ext cx="5943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FPG ≥ 7.0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</a:rPr>
              <a:t>2h-OGTT ≥ 11.1</a:t>
            </a:r>
            <a:r>
              <a:rPr lang="en-US" sz="2000" dirty="0">
                <a:solidFill>
                  <a:schemeClr val="tx1"/>
                </a:solidFill>
              </a:rPr>
              <a:t>: ADA, IDF, Canada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2 single pairs: random PG, FPG &lt; 5.6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No NICE target</a:t>
            </a:r>
            <a:r>
              <a:rPr lang="en-US" sz="2000" dirty="0">
                <a:solidFill>
                  <a:schemeClr val="tx1"/>
                </a:solidFill>
              </a:rPr>
              <a:t> under the criterion</a:t>
            </a:r>
            <a:endParaRPr lang="en-US" sz="20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Plasma glucose only, </a:t>
            </a:r>
            <a:r>
              <a:rPr lang="en-US" sz="2000" b="1" dirty="0">
                <a:solidFill>
                  <a:schemeClr val="accent1"/>
                </a:solidFill>
              </a:rPr>
              <a:t>HbA1c not compared</a:t>
            </a:r>
            <a:endParaRPr lang="en-US" sz="2000" dirty="0"/>
          </a:p>
        </p:txBody>
      </p:sp>
      <p:sp>
        <p:nvSpPr>
          <p:cNvPr id="44" name="Dot">
            <a:extLst>
              <a:ext uri="{FF2B5EF4-FFF2-40B4-BE49-F238E27FC236}">
                <a16:creationId xmlns:a16="http://schemas.microsoft.com/office/drawing/2014/main" id="{58C6964E-A5FF-5A66-816E-EFB02B87736F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6" name="Dot">
            <a:extLst>
              <a:ext uri="{FF2B5EF4-FFF2-40B4-BE49-F238E27FC236}">
                <a16:creationId xmlns:a16="http://schemas.microsoft.com/office/drawing/2014/main" id="{7E1F63FE-E634-5380-5790-28053AF88D19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8" name="Dot">
            <a:extLst>
              <a:ext uri="{FF2B5EF4-FFF2-40B4-BE49-F238E27FC236}">
                <a16:creationId xmlns:a16="http://schemas.microsoft.com/office/drawing/2014/main" id="{BF464FB3-E6F7-7993-5700-CEF101458D55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Generated questions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524D65-2080-8BBD-59E7-84B4CB122EEA}"/>
              </a:ext>
            </a:extLst>
          </p:cNvPr>
          <p:cNvGrpSpPr/>
          <p:nvPr/>
        </p:nvGrpSpPr>
        <p:grpSpPr>
          <a:xfrm>
            <a:off x="7313371" y="27432"/>
            <a:ext cx="2437790" cy="374904"/>
            <a:chOff x="7313371" y="27432"/>
            <a:chExt cx="2437790" cy="374904"/>
          </a:xfrm>
        </p:grpSpPr>
        <p:sp>
          <p:nvSpPr>
            <p:cNvPr id="24" name="Nav Evaluation"/>
            <p:cNvSpPr txBox="1"/>
            <p:nvPr/>
          </p:nvSpPr>
          <p:spPr>
            <a:xfrm>
              <a:off x="7313371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Evaluation</a:t>
              </a:r>
              <a:endParaRPr lang="en-US" sz="1300" dirty="0"/>
            </a:p>
          </p:txBody>
        </p:sp>
        <p:sp>
          <p:nvSpPr>
            <p:cNvPr id="25" name="Dot"/>
            <p:cNvSpPr/>
            <p:nvPr/>
          </p:nvSpPr>
          <p:spPr>
            <a:xfrm>
              <a:off x="802934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26" name="Dot"/>
            <p:cNvSpPr/>
            <p:nvPr/>
          </p:nvSpPr>
          <p:spPr>
            <a:xfrm>
              <a:off x="821222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27" name="Dot"/>
            <p:cNvSpPr/>
            <p:nvPr/>
          </p:nvSpPr>
          <p:spPr>
            <a:xfrm>
              <a:off x="839510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28" name="Dot"/>
            <p:cNvSpPr/>
            <p:nvPr/>
          </p:nvSpPr>
          <p:spPr>
            <a:xfrm>
              <a:off x="857798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29" name="Dot"/>
            <p:cNvSpPr/>
            <p:nvPr/>
          </p:nvSpPr>
          <p:spPr>
            <a:xfrm>
              <a:off x="8760866" y="310896"/>
              <a:ext cx="91440" cy="914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prstDash val="solid"/>
            </a:ln>
          </p:spPr>
        </p:sp>
        <p:sp>
          <p:nvSpPr>
            <p:cNvPr id="30" name="Dot"/>
            <p:cNvSpPr/>
            <p:nvPr/>
          </p:nvSpPr>
          <p:spPr>
            <a:xfrm>
              <a:off x="894374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29 / 36</a:t>
            </a:r>
            <a:endParaRPr lang="en-US" sz="1200" dirty="0"/>
          </a:p>
        </p:txBody>
      </p:sp>
      <p:sp>
        <p:nvSpPr>
          <p:cNvPr id="35" name="Tile"/>
          <p:cNvSpPr/>
          <p:nvPr/>
        </p:nvSpPr>
        <p:spPr>
          <a:xfrm>
            <a:off x="457200" y="1463040"/>
            <a:ext cx="2697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155448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1,280</a:t>
            </a:r>
            <a:endParaRPr lang="en-US" sz="36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215249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accepted of 1,289 (99.3%)</a:t>
            </a:r>
            <a:endParaRPr lang="en-US" sz="1400" dirty="0"/>
          </a:p>
        </p:txBody>
      </p:sp>
      <p:sp>
        <p:nvSpPr>
          <p:cNvPr id="38" name="Tile"/>
          <p:cNvSpPr/>
          <p:nvPr/>
        </p:nvSpPr>
        <p:spPr>
          <a:xfrm>
            <a:off x="3291840" y="1463040"/>
            <a:ext cx="2697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29000" y="155448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</a:rPr>
              <a:t>9</a:t>
            </a:r>
            <a:endParaRPr lang="en-US" sz="3600" dirty="0"/>
          </a:p>
        </p:txBody>
      </p:sp>
      <p:sp>
        <p:nvSpPr>
          <p:cNvPr id="40" name="Text 38"/>
          <p:cNvSpPr txBox="1"/>
          <p:nvPr/>
        </p:nvSpPr>
        <p:spPr>
          <a:xfrm>
            <a:off x="3429000" y="215249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flagged for review</a:t>
            </a:r>
            <a:endParaRPr lang="en-US" sz="1400" dirty="0"/>
          </a:p>
        </p:txBody>
      </p:sp>
      <p:sp>
        <p:nvSpPr>
          <p:cNvPr id="41" name="Tile"/>
          <p:cNvSpPr/>
          <p:nvPr/>
        </p:nvSpPr>
        <p:spPr>
          <a:xfrm>
            <a:off x="6126480" y="1463040"/>
            <a:ext cx="2697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63640" y="155448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294</a:t>
            </a:r>
            <a:endParaRPr lang="en-US" sz="3600" dirty="0"/>
          </a:p>
        </p:txBody>
      </p:sp>
      <p:sp>
        <p:nvSpPr>
          <p:cNvPr id="43" name="Text 41"/>
          <p:cNvSpPr txBox="1"/>
          <p:nvPr/>
        </p:nvSpPr>
        <p:spPr>
          <a:xfrm>
            <a:off x="6263640" y="215249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questions with MCQ options</a:t>
            </a:r>
            <a:endParaRPr lang="en-US" sz="1400" dirty="0"/>
          </a:p>
        </p:txBody>
      </p:sp>
      <p:sp>
        <p:nvSpPr>
          <p:cNvPr id="44" name="Tile"/>
          <p:cNvSpPr/>
          <p:nvPr/>
        </p:nvSpPr>
        <p:spPr>
          <a:xfrm>
            <a:off x="8961120" y="146304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098280" y="155448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4,328</a:t>
            </a:r>
            <a:endParaRPr lang="en-US" sz="3600" dirty="0"/>
          </a:p>
        </p:txBody>
      </p:sp>
      <p:sp>
        <p:nvSpPr>
          <p:cNvPr id="46" name="Text 44"/>
          <p:cNvSpPr txBox="1"/>
          <p:nvPr/>
        </p:nvSpPr>
        <p:spPr>
          <a:xfrm>
            <a:off x="9098280" y="2152498"/>
            <a:ext cx="24688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phrasings, 3.38 per anchor</a:t>
            </a:r>
            <a:endParaRPr lang="en-US" sz="1400" dirty="0"/>
          </a:p>
        </p:txBody>
      </p:sp>
      <p:graphicFrame>
        <p:nvGraphicFramePr>
          <p:cNvPr id="47" name="Chart 0"/>
          <p:cNvGraphicFramePr/>
          <p:nvPr/>
        </p:nvGraphicFramePr>
        <p:xfrm>
          <a:off x="457200" y="2880360"/>
          <a:ext cx="56692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8" name="Bas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008042"/>
              </p:ext>
            </p:extLst>
          </p:nvPr>
        </p:nvGraphicFramePr>
        <p:xfrm>
          <a:off x="1478933" y="3307384"/>
          <a:ext cx="9048206" cy="1870864"/>
        </p:xfrm>
        <a:graphic>
          <a:graphicData uri="http://schemas.openxmlformats.org/drawingml/2006/table">
            <a:tbl>
              <a:tblPr/>
              <a:tblGrid>
                <a:gridCol w="4285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Rule-only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Hybrid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0F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Pass rate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100%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99.3%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MCQs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294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Phrasings per anchor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1.00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</a:rPr>
                        <a:t>3.38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Text 45"/>
          <p:cNvSpPr txBox="1"/>
          <p:nvPr/>
        </p:nvSpPr>
        <p:spPr>
          <a:xfrm>
            <a:off x="3396996" y="5653591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The baseline passes by construction: fixed template, no LLM.</a:t>
            </a:r>
            <a:endParaRPr lang="en-US" sz="1400" dirty="0"/>
          </a:p>
        </p:txBody>
      </p:sp>
      <p:sp>
        <p:nvSpPr>
          <p:cNvPr id="51" name="Dot">
            <a:extLst>
              <a:ext uri="{FF2B5EF4-FFF2-40B4-BE49-F238E27FC236}">
                <a16:creationId xmlns:a16="http://schemas.microsoft.com/office/drawing/2014/main" id="{8E177C11-69E3-016C-7CBC-EE28D52A17C6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3" name="Dot">
            <a:extLst>
              <a:ext uri="{FF2B5EF4-FFF2-40B4-BE49-F238E27FC236}">
                <a16:creationId xmlns:a16="http://schemas.microsoft.com/office/drawing/2014/main" id="{8C2AEFC7-C4E9-2C75-D173-AC1EA0BC6AAF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5" name="Dot">
            <a:extLst>
              <a:ext uri="{FF2B5EF4-FFF2-40B4-BE49-F238E27FC236}">
                <a16:creationId xmlns:a16="http://schemas.microsoft.com/office/drawing/2014/main" id="{A13E016D-8DE1-9DDE-B374-A80F4247C21D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Question types and methods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aphicFrame>
        <p:nvGraphicFramePr>
          <p:cNvPr id="36" name="Chart 0"/>
          <p:cNvGraphicFramePr/>
          <p:nvPr>
            <p:extLst>
              <p:ext uri="{D42A27DB-BD31-4B8C-83A1-F6EECF244321}">
                <p14:modId xmlns:p14="http://schemas.microsoft.com/office/powerpoint/2010/main" val="1624804218"/>
              </p:ext>
            </p:extLst>
          </p:nvPr>
        </p:nvGraphicFramePr>
        <p:xfrm>
          <a:off x="457200" y="1417320"/>
          <a:ext cx="54864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 1"/>
          <p:cNvGraphicFramePr/>
          <p:nvPr/>
        </p:nvGraphicFramePr>
        <p:xfrm>
          <a:off x="457200" y="3840480"/>
          <a:ext cx="54864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8" name="Example card"/>
          <p:cNvSpPr/>
          <p:nvPr/>
        </p:nvSpPr>
        <p:spPr>
          <a:xfrm>
            <a:off x="6217920" y="1417320"/>
            <a:ext cx="54864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00800" y="14904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first_line_for  →  which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6400800" y="1828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“Which pharmacological approach is recommended for managing blood glucose in people with diabetes who are at higher risk of hypoglycaemia?”</a:t>
            </a:r>
            <a:endParaRPr lang="en-US" sz="1400" dirty="0"/>
          </a:p>
        </p:txBody>
      </p:sp>
      <p:sp>
        <p:nvSpPr>
          <p:cNvPr id="41" name="Example card"/>
          <p:cNvSpPr/>
          <p:nvPr/>
        </p:nvSpPr>
        <p:spPr>
          <a:xfrm>
            <a:off x="6217920" y="2834640"/>
            <a:ext cx="54864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400800" y="2907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manages  →  how (vignette)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6400800" y="3246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“A middle-aged man with type 2 diabetes and recently diagnosed stable heart failure presents for a medication review . Which management strategy should be prioritised?”</a:t>
            </a:r>
            <a:endParaRPr lang="en-US" sz="1400" dirty="0"/>
          </a:p>
        </p:txBody>
      </p:sp>
      <p:sp>
        <p:nvSpPr>
          <p:cNvPr id="44" name="Example card"/>
          <p:cNvSpPr/>
          <p:nvPr/>
        </p:nvSpPr>
        <p:spPr>
          <a:xfrm>
            <a:off x="6217920" y="4251960"/>
            <a:ext cx="54864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400800" y="43251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equivalent_to  →  how (cross-guideline)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6400800" y="46634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chemeClr val="tx1"/>
                </a:solidFill>
              </a:rPr>
              <a:t>“</a:t>
            </a:r>
            <a:r>
              <a:rPr lang="en-US" sz="1400" dirty="0"/>
              <a:t>How does the fasting plasma glucose threshold used to diagnose diabetes compare between the American Diabetes Association and Diabetes Canada guidelines</a:t>
            </a:r>
            <a:r>
              <a:rPr lang="en-US" sz="1400" dirty="0">
                <a:solidFill>
                  <a:schemeClr val="tx1"/>
                </a:solidFill>
              </a:rPr>
              <a:t>?”</a:t>
            </a:r>
            <a:endParaRPr lang="en-US" sz="1400" dirty="0"/>
          </a:p>
        </p:txBody>
      </p:sp>
      <p:sp>
        <p:nvSpPr>
          <p:cNvPr id="47" name="Takeaway"/>
          <p:cNvSpPr/>
          <p:nvPr/>
        </p:nvSpPr>
        <p:spPr>
          <a:xfrm>
            <a:off x="6217920" y="566928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400800" y="5669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Type follows the relation type, </a:t>
            </a:r>
            <a:r>
              <a:rPr lang="en-US" sz="2000" b="1" dirty="0">
                <a:solidFill>
                  <a:schemeClr val="accent1"/>
                </a:solidFill>
              </a:rPr>
              <a:t>not the model</a:t>
            </a:r>
            <a:endParaRPr lang="en-US" sz="20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492240"/>
            <a:ext cx="1673352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b="1" smtClean="0"/>
              <a:pPr algn="ctr"/>
              <a:t>29</a:t>
            </a:fld>
            <a:r>
              <a:rPr lang="en-US" b="1" dirty="0"/>
              <a:t> / 36</a:t>
            </a:r>
            <a:endParaRPr lang="en-US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698B07-6740-FED1-41FD-3A17D263F848}"/>
              </a:ext>
            </a:extLst>
          </p:cNvPr>
          <p:cNvGrpSpPr/>
          <p:nvPr/>
        </p:nvGrpSpPr>
        <p:grpSpPr>
          <a:xfrm>
            <a:off x="7313371" y="27432"/>
            <a:ext cx="2437790" cy="374904"/>
            <a:chOff x="7313371" y="27432"/>
            <a:chExt cx="2437790" cy="374904"/>
          </a:xfrm>
        </p:grpSpPr>
        <p:sp>
          <p:nvSpPr>
            <p:cNvPr id="51" name="Nav Evaluation">
              <a:extLst>
                <a:ext uri="{FF2B5EF4-FFF2-40B4-BE49-F238E27FC236}">
                  <a16:creationId xmlns:a16="http://schemas.microsoft.com/office/drawing/2014/main" id="{7B94B755-9642-D91E-2915-934542C5BC18}"/>
                </a:ext>
              </a:extLst>
            </p:cNvPr>
            <p:cNvSpPr txBox="1"/>
            <p:nvPr/>
          </p:nvSpPr>
          <p:spPr>
            <a:xfrm>
              <a:off x="7313371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Evaluation</a:t>
              </a:r>
              <a:endParaRPr lang="en-US" sz="1300" dirty="0"/>
            </a:p>
          </p:txBody>
        </p:sp>
        <p:sp>
          <p:nvSpPr>
            <p:cNvPr id="52" name="Dot">
              <a:extLst>
                <a:ext uri="{FF2B5EF4-FFF2-40B4-BE49-F238E27FC236}">
                  <a16:creationId xmlns:a16="http://schemas.microsoft.com/office/drawing/2014/main" id="{144E15F5-D9A3-770F-C3D0-21725969EB7C}"/>
                </a:ext>
              </a:extLst>
            </p:cNvPr>
            <p:cNvSpPr/>
            <p:nvPr/>
          </p:nvSpPr>
          <p:spPr>
            <a:xfrm>
              <a:off x="802934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3" name="Dot">
              <a:extLst>
                <a:ext uri="{FF2B5EF4-FFF2-40B4-BE49-F238E27FC236}">
                  <a16:creationId xmlns:a16="http://schemas.microsoft.com/office/drawing/2014/main" id="{9F89ABA6-712E-CCF6-26B0-69CC13709B30}"/>
                </a:ext>
              </a:extLst>
            </p:cNvPr>
            <p:cNvSpPr/>
            <p:nvPr/>
          </p:nvSpPr>
          <p:spPr>
            <a:xfrm>
              <a:off x="821222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4" name="Dot">
              <a:extLst>
                <a:ext uri="{FF2B5EF4-FFF2-40B4-BE49-F238E27FC236}">
                  <a16:creationId xmlns:a16="http://schemas.microsoft.com/office/drawing/2014/main" id="{11F70E1F-7570-BDF4-BE26-52461B46B7B7}"/>
                </a:ext>
              </a:extLst>
            </p:cNvPr>
            <p:cNvSpPr/>
            <p:nvPr/>
          </p:nvSpPr>
          <p:spPr>
            <a:xfrm>
              <a:off x="839510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5" name="Dot">
              <a:extLst>
                <a:ext uri="{FF2B5EF4-FFF2-40B4-BE49-F238E27FC236}">
                  <a16:creationId xmlns:a16="http://schemas.microsoft.com/office/drawing/2014/main" id="{5B96208F-1446-B653-33BD-A0C1E8D8C994}"/>
                </a:ext>
              </a:extLst>
            </p:cNvPr>
            <p:cNvSpPr/>
            <p:nvPr/>
          </p:nvSpPr>
          <p:spPr>
            <a:xfrm>
              <a:off x="857798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6" name="Dot">
              <a:extLst>
                <a:ext uri="{FF2B5EF4-FFF2-40B4-BE49-F238E27FC236}">
                  <a16:creationId xmlns:a16="http://schemas.microsoft.com/office/drawing/2014/main" id="{2010C6E4-245F-2B68-507C-DBFCE9566130}"/>
                </a:ext>
              </a:extLst>
            </p:cNvPr>
            <p:cNvSpPr/>
            <p:nvPr/>
          </p:nvSpPr>
          <p:spPr>
            <a:xfrm>
              <a:off x="8760866" y="310896"/>
              <a:ext cx="91440" cy="91440"/>
            </a:xfrm>
            <a:prstGeom prst="ellipse">
              <a:avLst/>
            </a:prstGeom>
            <a:noFill/>
            <a:ln w="9525">
              <a:solidFill>
                <a:schemeClr val="tx2">
                  <a:lumMod val="20000"/>
                  <a:lumOff val="80000"/>
                </a:schemeClr>
              </a:solidFill>
              <a:prstDash val="solid"/>
            </a:ln>
          </p:spPr>
        </p:sp>
        <p:sp>
          <p:nvSpPr>
            <p:cNvPr id="57" name="Dot">
              <a:extLst>
                <a:ext uri="{FF2B5EF4-FFF2-40B4-BE49-F238E27FC236}">
                  <a16:creationId xmlns:a16="http://schemas.microsoft.com/office/drawing/2014/main" id="{639EDDB3-0D59-3E16-0386-0C4756526487}"/>
                </a:ext>
              </a:extLst>
            </p:cNvPr>
            <p:cNvSpPr/>
            <p:nvPr/>
          </p:nvSpPr>
          <p:spPr>
            <a:xfrm>
              <a:off x="8943746" y="310896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prstDash val="solid"/>
            </a:ln>
          </p:spPr>
        </p:sp>
        <p:sp>
          <p:nvSpPr>
            <p:cNvPr id="59" name="Dot">
              <a:extLst>
                <a:ext uri="{FF2B5EF4-FFF2-40B4-BE49-F238E27FC236}">
                  <a16:creationId xmlns:a16="http://schemas.microsoft.com/office/drawing/2014/main" id="{BD81EB53-55AF-4643-998B-199A91DD0B6C}"/>
                </a:ext>
              </a:extLst>
            </p:cNvPr>
            <p:cNvSpPr/>
            <p:nvPr/>
          </p:nvSpPr>
          <p:spPr>
            <a:xfrm>
              <a:off x="913180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D18569-3C97-5875-AAD6-2B9668BF5BAD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61" name="Nav Wrap-up">
              <a:extLst>
                <a:ext uri="{FF2B5EF4-FFF2-40B4-BE49-F238E27FC236}">
                  <a16:creationId xmlns:a16="http://schemas.microsoft.com/office/drawing/2014/main" id="{464CB498-5819-0EDE-E53F-1C891DE0CBE0}"/>
                </a:ext>
              </a:extLst>
            </p:cNvPr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D9A5AB"/>
                  </a:solidFill>
                </a:rPr>
                <a:t>Wrap-up</a:t>
              </a:r>
              <a:endParaRPr lang="en-US" sz="1300" dirty="0"/>
            </a:p>
          </p:txBody>
        </p:sp>
        <p:sp>
          <p:nvSpPr>
            <p:cNvPr id="62" name="Dot">
              <a:extLst>
                <a:ext uri="{FF2B5EF4-FFF2-40B4-BE49-F238E27FC236}">
                  <a16:creationId xmlns:a16="http://schemas.microsoft.com/office/drawing/2014/main" id="{A6BC0E11-2471-ED42-65F3-3DA853AF7990}"/>
                </a:ext>
              </a:extLst>
            </p:cNvPr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63" name="Dot">
              <a:extLst>
                <a:ext uri="{FF2B5EF4-FFF2-40B4-BE49-F238E27FC236}">
                  <a16:creationId xmlns:a16="http://schemas.microsoft.com/office/drawing/2014/main" id="{BFC48ED1-733C-E939-7C00-00151D510C81}"/>
                </a:ext>
              </a:extLst>
            </p:cNvPr>
            <p:cNvSpPr/>
            <p:nvPr/>
          </p:nvSpPr>
          <p:spPr>
            <a:xfrm>
              <a:off x="1101577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64" name="Dot">
              <a:extLst>
                <a:ext uri="{FF2B5EF4-FFF2-40B4-BE49-F238E27FC236}">
                  <a16:creationId xmlns:a16="http://schemas.microsoft.com/office/drawing/2014/main" id="{5B37EBFD-8C31-7BF0-EFAF-6CE05D2C4267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Human clinical review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31 / 36</a:t>
            </a:r>
            <a:endParaRPr lang="en-US" sz="12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457200" y="1463040"/>
          <a:ext cx="51206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"/>
          <p:cNvSpPr txBox="1"/>
          <p:nvPr/>
        </p:nvSpPr>
        <p:spPr>
          <a:xfrm>
            <a:off x="5852160" y="155448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2 doctors</a:t>
            </a:r>
            <a:r>
              <a:rPr lang="en-US" sz="2200" dirty="0">
                <a:solidFill>
                  <a:schemeClr val="tx1"/>
                </a:solidFill>
              </a:rPr>
              <a:t>, 15 questions each, no overlap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Blind to the model, provided with </a:t>
            </a:r>
            <a:r>
              <a:rPr lang="en-US" sz="2200" b="1" dirty="0">
                <a:solidFill>
                  <a:schemeClr val="accent1"/>
                </a:solidFill>
              </a:rPr>
              <a:t>question text </a:t>
            </a:r>
            <a:r>
              <a:rPr lang="en-US" sz="2200" dirty="0"/>
              <a:t>along with the </a:t>
            </a:r>
            <a:r>
              <a:rPr lang="en-US" sz="2200" b="1" dirty="0">
                <a:solidFill>
                  <a:schemeClr val="accent1"/>
                </a:solidFill>
              </a:rPr>
              <a:t>canonical question</a:t>
            </a:r>
            <a:endParaRPr lang="en-US" sz="2200" dirty="0"/>
          </a:p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26</a:t>
            </a:r>
            <a:r>
              <a:rPr lang="en-US" sz="2200" dirty="0">
                <a:solidFill>
                  <a:schemeClr val="tx1"/>
                </a:solidFill>
              </a:rPr>
              <a:t> accepted, </a:t>
            </a:r>
            <a:r>
              <a:rPr lang="en-US" sz="2200" b="1" dirty="0">
                <a:solidFill>
                  <a:schemeClr val="accent1"/>
                </a:solidFill>
              </a:rPr>
              <a:t>3</a:t>
            </a:r>
            <a:r>
              <a:rPr lang="en-US" sz="2200" dirty="0">
                <a:solidFill>
                  <a:schemeClr val="tx1"/>
                </a:solidFill>
              </a:rPr>
              <a:t> clear failures, </a:t>
            </a:r>
            <a:r>
              <a:rPr lang="en-US" sz="2200" b="1" dirty="0">
                <a:solidFill>
                  <a:schemeClr val="accent1"/>
                </a:solidFill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 borderline</a:t>
            </a:r>
            <a:endParaRPr lang="en-US" sz="2200" dirty="0"/>
          </a:p>
        </p:txBody>
      </p:sp>
      <p:sp>
        <p:nvSpPr>
          <p:cNvPr id="37" name="Failure example"/>
          <p:cNvSpPr/>
          <p:nvPr/>
        </p:nvSpPr>
        <p:spPr>
          <a:xfrm>
            <a:off x="5852160" y="3794760"/>
            <a:ext cx="5852160" cy="2423160"/>
          </a:xfrm>
          <a:prstGeom prst="roundRect">
            <a:avLst>
              <a:gd name="adj" fmla="val 301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035040" y="3886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Failure example (Q9)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035040" y="4343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Metformin –MANAGES→ hypoglycaemic events: not supported by the source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6035040" y="5212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All 3 failures: wrong graph relation, not wrong wording</a:t>
            </a:r>
            <a:endParaRPr lang="en-US" sz="1800" dirty="0"/>
          </a:p>
        </p:txBody>
      </p:sp>
      <p:sp>
        <p:nvSpPr>
          <p:cNvPr id="42" name="Dot">
            <a:extLst>
              <a:ext uri="{FF2B5EF4-FFF2-40B4-BE49-F238E27FC236}">
                <a16:creationId xmlns:a16="http://schemas.microsoft.com/office/drawing/2014/main" id="{D319F8D7-C566-5D1A-8F2E-30B36751B188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4" name="Dot">
            <a:extLst>
              <a:ext uri="{FF2B5EF4-FFF2-40B4-BE49-F238E27FC236}">
                <a16:creationId xmlns:a16="http://schemas.microsoft.com/office/drawing/2014/main" id="{67D12628-F532-47E2-E918-9595DDAE262E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E1C4CE-1352-9714-31B7-64CBD05EAC1F}"/>
              </a:ext>
            </a:extLst>
          </p:cNvPr>
          <p:cNvGrpSpPr/>
          <p:nvPr/>
        </p:nvGrpSpPr>
        <p:grpSpPr>
          <a:xfrm>
            <a:off x="7313371" y="27432"/>
            <a:ext cx="2437790" cy="374904"/>
            <a:chOff x="7313371" y="27432"/>
            <a:chExt cx="2437790" cy="374904"/>
          </a:xfrm>
        </p:grpSpPr>
        <p:sp>
          <p:nvSpPr>
            <p:cNvPr id="41" name="Nav Evaluation">
              <a:extLst>
                <a:ext uri="{FF2B5EF4-FFF2-40B4-BE49-F238E27FC236}">
                  <a16:creationId xmlns:a16="http://schemas.microsoft.com/office/drawing/2014/main" id="{63063C62-53F6-5737-39E9-9C01E8D1FF1D}"/>
                </a:ext>
              </a:extLst>
            </p:cNvPr>
            <p:cNvSpPr txBox="1"/>
            <p:nvPr/>
          </p:nvSpPr>
          <p:spPr>
            <a:xfrm>
              <a:off x="7313371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Evaluation</a:t>
              </a:r>
              <a:endParaRPr lang="en-US" sz="1300" dirty="0"/>
            </a:p>
          </p:txBody>
        </p:sp>
        <p:sp>
          <p:nvSpPr>
            <p:cNvPr id="43" name="Dot">
              <a:extLst>
                <a:ext uri="{FF2B5EF4-FFF2-40B4-BE49-F238E27FC236}">
                  <a16:creationId xmlns:a16="http://schemas.microsoft.com/office/drawing/2014/main" id="{B354245F-B887-1971-71D5-6C9ADBC5C65A}"/>
                </a:ext>
              </a:extLst>
            </p:cNvPr>
            <p:cNvSpPr/>
            <p:nvPr/>
          </p:nvSpPr>
          <p:spPr>
            <a:xfrm>
              <a:off x="802934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45" name="Dot">
              <a:extLst>
                <a:ext uri="{FF2B5EF4-FFF2-40B4-BE49-F238E27FC236}">
                  <a16:creationId xmlns:a16="http://schemas.microsoft.com/office/drawing/2014/main" id="{60B30EB0-EBB0-4E29-CF07-497588B3C156}"/>
                </a:ext>
              </a:extLst>
            </p:cNvPr>
            <p:cNvSpPr/>
            <p:nvPr/>
          </p:nvSpPr>
          <p:spPr>
            <a:xfrm>
              <a:off x="821222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47" name="Dot">
              <a:extLst>
                <a:ext uri="{FF2B5EF4-FFF2-40B4-BE49-F238E27FC236}">
                  <a16:creationId xmlns:a16="http://schemas.microsoft.com/office/drawing/2014/main" id="{569F4BE3-AE11-2E6A-4670-20B23032635D}"/>
                </a:ext>
              </a:extLst>
            </p:cNvPr>
            <p:cNvSpPr/>
            <p:nvPr/>
          </p:nvSpPr>
          <p:spPr>
            <a:xfrm>
              <a:off x="839510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49" name="Dot">
              <a:extLst>
                <a:ext uri="{FF2B5EF4-FFF2-40B4-BE49-F238E27FC236}">
                  <a16:creationId xmlns:a16="http://schemas.microsoft.com/office/drawing/2014/main" id="{80603444-1D01-93D3-16F7-92BB1B329657}"/>
                </a:ext>
              </a:extLst>
            </p:cNvPr>
            <p:cNvSpPr/>
            <p:nvPr/>
          </p:nvSpPr>
          <p:spPr>
            <a:xfrm>
              <a:off x="8577986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0" name="Dot">
              <a:extLst>
                <a:ext uri="{FF2B5EF4-FFF2-40B4-BE49-F238E27FC236}">
                  <a16:creationId xmlns:a16="http://schemas.microsoft.com/office/drawing/2014/main" id="{0C43CAC0-88C6-C9F2-AF03-496CA3B7EDB3}"/>
                </a:ext>
              </a:extLst>
            </p:cNvPr>
            <p:cNvSpPr/>
            <p:nvPr/>
          </p:nvSpPr>
          <p:spPr>
            <a:xfrm>
              <a:off x="8760866" y="310896"/>
              <a:ext cx="91440" cy="91440"/>
            </a:xfrm>
            <a:prstGeom prst="ellipse">
              <a:avLst/>
            </a:prstGeom>
            <a:noFill/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1" name="Dot">
              <a:extLst>
                <a:ext uri="{FF2B5EF4-FFF2-40B4-BE49-F238E27FC236}">
                  <a16:creationId xmlns:a16="http://schemas.microsoft.com/office/drawing/2014/main" id="{8EA8E6BE-3A07-6AF9-885F-4A251275DCD3}"/>
                </a:ext>
              </a:extLst>
            </p:cNvPr>
            <p:cNvSpPr/>
            <p:nvPr/>
          </p:nvSpPr>
          <p:spPr>
            <a:xfrm>
              <a:off x="8943746" y="310896"/>
              <a:ext cx="91440" cy="91440"/>
            </a:xfrm>
            <a:prstGeom prst="ellipse">
              <a:avLst/>
            </a:prstGeom>
            <a:noFill/>
            <a:ln w="9525">
              <a:solidFill>
                <a:srgbClr val="D9A5AB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Dot">
              <a:extLst>
                <a:ext uri="{FF2B5EF4-FFF2-40B4-BE49-F238E27FC236}">
                  <a16:creationId xmlns:a16="http://schemas.microsoft.com/office/drawing/2014/main" id="{298307D8-6D6E-3E54-E107-69912D99D3D1}"/>
                </a:ext>
              </a:extLst>
            </p:cNvPr>
            <p:cNvSpPr/>
            <p:nvPr/>
          </p:nvSpPr>
          <p:spPr>
            <a:xfrm>
              <a:off x="9131807" y="310896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prstDash val="solid"/>
            </a:ln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Outline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32 / 36</a:t>
            </a:r>
            <a:endParaRPr lang="en-US" sz="1200" dirty="0"/>
          </a:p>
        </p:txBody>
      </p:sp>
      <p:sp>
        <p:nvSpPr>
          <p:cNvPr id="35" name="Number 1"/>
          <p:cNvSpPr/>
          <p:nvPr/>
        </p:nvSpPr>
        <p:spPr>
          <a:xfrm>
            <a:off x="1645920" y="1645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15819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Motivation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15819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Why comparing guidelines is hard, aims, contributions</a:t>
            </a:r>
            <a:endParaRPr lang="en-US" sz="1800" dirty="0"/>
          </a:p>
        </p:txBody>
      </p:sp>
      <p:sp>
        <p:nvSpPr>
          <p:cNvPr id="38" name="Number 2"/>
          <p:cNvSpPr/>
          <p:nvPr/>
        </p:nvSpPr>
        <p:spPr>
          <a:xfrm>
            <a:off x="1645920" y="25603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24963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24963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Knowledge graphs, LLMs and grounding, related work</a:t>
            </a:r>
            <a:endParaRPr lang="en-US" sz="1800" dirty="0"/>
          </a:p>
        </p:txBody>
      </p:sp>
      <p:sp>
        <p:nvSpPr>
          <p:cNvPr id="41" name="Number 3"/>
          <p:cNvSpPr/>
          <p:nvPr/>
        </p:nvSpPr>
        <p:spPr>
          <a:xfrm>
            <a:off x="1645920" y="34747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2468880" y="34107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Approach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5120640" y="34107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Pipeline, normalisation, question generation</a:t>
            </a:r>
            <a:endParaRPr lang="en-US" sz="1800" dirty="0"/>
          </a:p>
        </p:txBody>
      </p:sp>
      <p:sp>
        <p:nvSpPr>
          <p:cNvPr id="44" name="Number 4"/>
          <p:cNvSpPr/>
          <p:nvPr/>
        </p:nvSpPr>
        <p:spPr>
          <a:xfrm>
            <a:off x="1645920" y="43891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2468880" y="4325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Evaluation</a:t>
            </a:r>
            <a:endParaRPr lang="en-US" sz="2400" dirty="0"/>
          </a:p>
        </p:txBody>
      </p:sp>
      <p:sp>
        <p:nvSpPr>
          <p:cNvPr id="46" name="Text 44"/>
          <p:cNvSpPr txBox="1"/>
          <p:nvPr/>
        </p:nvSpPr>
        <p:spPr>
          <a:xfrm>
            <a:off x="5120640" y="43251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Graph, equivalence links, questions, clinical review</a:t>
            </a:r>
            <a:endParaRPr lang="en-US" sz="1800" dirty="0"/>
          </a:p>
        </p:txBody>
      </p:sp>
      <p:sp>
        <p:nvSpPr>
          <p:cNvPr id="47" name="Highlight"/>
          <p:cNvSpPr/>
          <p:nvPr/>
        </p:nvSpPr>
        <p:spPr>
          <a:xfrm>
            <a:off x="1463040" y="5184648"/>
            <a:ext cx="92354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Number 5"/>
          <p:cNvSpPr/>
          <p:nvPr/>
        </p:nvSpPr>
        <p:spPr>
          <a:xfrm>
            <a:off x="1645920" y="5303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2468880" y="52395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Wrap-up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5120640" y="52395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What it shows, limits, conclusions</a:t>
            </a:r>
            <a:endParaRPr lang="en-US" sz="1800" dirty="0"/>
          </a:p>
        </p:txBody>
      </p:sp>
      <p:sp>
        <p:nvSpPr>
          <p:cNvPr id="52" name="Dot">
            <a:extLst>
              <a:ext uri="{FF2B5EF4-FFF2-40B4-BE49-F238E27FC236}">
                <a16:creationId xmlns:a16="http://schemas.microsoft.com/office/drawing/2014/main" id="{7947FF09-A09F-3092-88B2-04F2328A0B08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3" name="Dot">
            <a:extLst>
              <a:ext uri="{FF2B5EF4-FFF2-40B4-BE49-F238E27FC236}">
                <a16:creationId xmlns:a16="http://schemas.microsoft.com/office/drawing/2014/main" id="{4865811E-F8E3-8D12-F592-D44CCD9B806A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D94BBD4-610A-7FF1-F376-628143AA6F8D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56" name="Nav Wrap-up">
              <a:extLst>
                <a:ext uri="{FF2B5EF4-FFF2-40B4-BE49-F238E27FC236}">
                  <a16:creationId xmlns:a16="http://schemas.microsoft.com/office/drawing/2014/main" id="{6271B39C-59F9-4DF4-B5E6-D1075488FC15}"/>
                </a:ext>
              </a:extLst>
            </p:cNvPr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Wrap-up</a:t>
              </a:r>
            </a:p>
          </p:txBody>
        </p:sp>
        <p:sp>
          <p:nvSpPr>
            <p:cNvPr id="57" name="Dot">
              <a:extLst>
                <a:ext uri="{FF2B5EF4-FFF2-40B4-BE49-F238E27FC236}">
                  <a16:creationId xmlns:a16="http://schemas.microsoft.com/office/drawing/2014/main" id="{FC72B9BD-B237-936E-E895-5C6A039A6C5E}"/>
                </a:ext>
              </a:extLst>
            </p:cNvPr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8" name="Dot">
              <a:extLst>
                <a:ext uri="{FF2B5EF4-FFF2-40B4-BE49-F238E27FC236}">
                  <a16:creationId xmlns:a16="http://schemas.microsoft.com/office/drawing/2014/main" id="{89B903F8-D30F-E68E-590F-6CB3AA071975}"/>
                </a:ext>
              </a:extLst>
            </p:cNvPr>
            <p:cNvSpPr/>
            <p:nvPr/>
          </p:nvSpPr>
          <p:spPr>
            <a:xfrm>
              <a:off x="1101577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9" name="Dot">
              <a:extLst>
                <a:ext uri="{FF2B5EF4-FFF2-40B4-BE49-F238E27FC236}">
                  <a16:creationId xmlns:a16="http://schemas.microsoft.com/office/drawing/2014/main" id="{6CC9C80D-89BB-A634-B648-5792A937C818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Limitations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79379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1207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036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4865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6694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8523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Dot"/>
          <p:cNvSpPr/>
          <p:nvPr/>
        </p:nvSpPr>
        <p:spPr>
          <a:xfrm>
            <a:off x="90351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6" name="Limitation card"/>
          <p:cNvSpPr/>
          <p:nvPr/>
        </p:nvSpPr>
        <p:spPr>
          <a:xfrm>
            <a:off x="45720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Number 1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Extraction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2377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LLM extraction not checked against annotated data</a:t>
            </a:r>
            <a:endParaRPr lang="en-US" sz="1700" dirty="0"/>
          </a:p>
        </p:txBody>
      </p:sp>
      <p:sp>
        <p:nvSpPr>
          <p:cNvPr id="40" name="Limitation card"/>
          <p:cNvSpPr/>
          <p:nvPr/>
        </p:nvSpPr>
        <p:spPr>
          <a:xfrm>
            <a:off x="429768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Number 2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52120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Entity matching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4526280" y="2377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fixed alias lists, unlisted variants stay separate</a:t>
            </a:r>
            <a:endParaRPr lang="en-US" sz="1700" dirty="0"/>
          </a:p>
        </p:txBody>
      </p:sp>
      <p:sp>
        <p:nvSpPr>
          <p:cNvPr id="44" name="Limitation card"/>
          <p:cNvSpPr/>
          <p:nvPr/>
        </p:nvSpPr>
        <p:spPr>
          <a:xfrm>
            <a:off x="8138160" y="1463040"/>
            <a:ext cx="3611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Number 3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905256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Equivalence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8366760" y="23774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plasma glucose only, HbA1c not compared</a:t>
            </a:r>
            <a:endParaRPr lang="en-US" sz="1700" dirty="0"/>
          </a:p>
        </p:txBody>
      </p:sp>
      <p:sp>
        <p:nvSpPr>
          <p:cNvPr id="48" name="Limitation card"/>
          <p:cNvSpPr/>
          <p:nvPr/>
        </p:nvSpPr>
        <p:spPr>
          <a:xfrm>
            <a:off x="457200" y="3566160"/>
            <a:ext cx="3611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Number 4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137160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Validator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4480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checks consistency, not clinical correctness. Vignette details only checked for numbers</a:t>
            </a:r>
            <a:endParaRPr lang="en-US" sz="1700" dirty="0"/>
          </a:p>
        </p:txBody>
      </p:sp>
      <p:sp>
        <p:nvSpPr>
          <p:cNvPr id="52" name="Limitation card"/>
          <p:cNvSpPr/>
          <p:nvPr/>
        </p:nvSpPr>
        <p:spPr>
          <a:xfrm>
            <a:off x="4297680" y="3566160"/>
            <a:ext cx="3611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Number 5"/>
          <p:cNvSpPr/>
          <p:nvPr/>
        </p:nvSpPr>
        <p:spPr>
          <a:xfrm>
            <a:off x="452628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521208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Human review</a:t>
            </a:r>
            <a:endParaRPr lang="en-US" sz="2000" dirty="0"/>
          </a:p>
        </p:txBody>
      </p:sp>
      <p:sp>
        <p:nvSpPr>
          <p:cNvPr id="55" name="Text 53"/>
          <p:cNvSpPr txBox="1"/>
          <p:nvPr/>
        </p:nvSpPr>
        <p:spPr>
          <a:xfrm>
            <a:off x="4526280" y="4480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30 questions, 2 reviewers, from the Opus run</a:t>
            </a:r>
            <a:endParaRPr lang="en-US" sz="1700" dirty="0"/>
          </a:p>
        </p:txBody>
      </p:sp>
      <p:sp>
        <p:nvSpPr>
          <p:cNvPr id="56" name="Limitation card"/>
          <p:cNvSpPr/>
          <p:nvPr/>
        </p:nvSpPr>
        <p:spPr>
          <a:xfrm>
            <a:off x="8138160" y="3566160"/>
            <a:ext cx="3611880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7" name="Number 6"/>
          <p:cNvSpPr/>
          <p:nvPr/>
        </p:nvSpPr>
        <p:spPr>
          <a:xfrm>
            <a:off x="8366760" y="3794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905256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Generalisability</a:t>
            </a:r>
            <a:endParaRPr lang="en-US" sz="2000" dirty="0"/>
          </a:p>
        </p:txBody>
      </p:sp>
      <p:sp>
        <p:nvSpPr>
          <p:cNvPr id="59" name="Text 57"/>
          <p:cNvSpPr txBox="1"/>
          <p:nvPr/>
        </p:nvSpPr>
        <p:spPr>
          <a:xfrm>
            <a:off x="8366760" y="4480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</a:rPr>
              <a:t>one corpus, publisher-specific ingestion rules</a:t>
            </a:r>
            <a:endParaRPr lang="en-US" sz="1700" dirty="0"/>
          </a:p>
        </p:txBody>
      </p:sp>
      <p:sp>
        <p:nvSpPr>
          <p:cNvPr id="60" name="Takeaway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BE9EB"/>
          </a:solidFill>
          <a:ln w="12700">
            <a:solidFill>
              <a:srgbClr val="FBE9E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Question quality is </a:t>
            </a:r>
            <a:r>
              <a:rPr lang="en-US" sz="2200" b="1" dirty="0">
                <a:solidFill>
                  <a:schemeClr val="accent1"/>
                </a:solidFill>
              </a:rPr>
              <a:t>bounded by graph quality</a:t>
            </a:r>
            <a:endParaRPr lang="en-US" sz="22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15600" y="6492240"/>
            <a:ext cx="1673352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 marL="0" algn="l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7021451-1387-4CA6-816F-3879F97B5CBC}" type="slidenum">
              <a:rPr lang="en-US" b="1" smtClean="0"/>
              <a:pPr algn="ctr"/>
              <a:t>32</a:t>
            </a:fld>
            <a:r>
              <a:rPr lang="en-US" b="1" dirty="0"/>
              <a:t> / 36</a:t>
            </a:r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81D04F-3CD5-2162-F64E-9D6C352A3BFD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68" name="Nav Wrap-up">
              <a:extLst>
                <a:ext uri="{FF2B5EF4-FFF2-40B4-BE49-F238E27FC236}">
                  <a16:creationId xmlns:a16="http://schemas.microsoft.com/office/drawing/2014/main" id="{B3D84A1B-A263-1C55-1AA3-2FBA2EA62247}"/>
                </a:ext>
              </a:extLst>
            </p:cNvPr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Wrap-up</a:t>
              </a:r>
            </a:p>
          </p:txBody>
        </p:sp>
        <p:sp>
          <p:nvSpPr>
            <p:cNvPr id="69" name="Dot">
              <a:extLst>
                <a:ext uri="{FF2B5EF4-FFF2-40B4-BE49-F238E27FC236}">
                  <a16:creationId xmlns:a16="http://schemas.microsoft.com/office/drawing/2014/main" id="{BC116427-C551-8758-6371-079B334FA381}"/>
                </a:ext>
              </a:extLst>
            </p:cNvPr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Dot">
              <a:extLst>
                <a:ext uri="{FF2B5EF4-FFF2-40B4-BE49-F238E27FC236}">
                  <a16:creationId xmlns:a16="http://schemas.microsoft.com/office/drawing/2014/main" id="{6B41539A-66BF-EC80-E6A0-2492AA1D54B5}"/>
                </a:ext>
              </a:extLst>
            </p:cNvPr>
            <p:cNvSpPr/>
            <p:nvPr/>
          </p:nvSpPr>
          <p:spPr>
            <a:xfrm>
              <a:off x="1101577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71" name="Dot">
              <a:extLst>
                <a:ext uri="{FF2B5EF4-FFF2-40B4-BE49-F238E27FC236}">
                  <a16:creationId xmlns:a16="http://schemas.microsoft.com/office/drawing/2014/main" id="{1256C080-B851-3AA9-2497-167969B2FDCA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Conclusions and future work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35 / 36</a:t>
            </a:r>
            <a:endParaRPr lang="en-US" sz="1200" dirty="0"/>
          </a:p>
        </p:txBody>
      </p:sp>
      <p:sp>
        <p:nvSpPr>
          <p:cNvPr id="35" name="Contributions card"/>
          <p:cNvSpPr/>
          <p:nvPr/>
        </p:nvSpPr>
        <p:spPr>
          <a:xfrm>
            <a:off x="457200" y="1508760"/>
            <a:ext cx="55321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Contributions</a:t>
            </a:r>
            <a:endParaRPr lang="en-US" sz="2400" dirty="0"/>
          </a:p>
        </p:txBody>
      </p:sp>
      <p:sp>
        <p:nvSpPr>
          <p:cNvPr id="37" name="Text"/>
          <p:cNvSpPr txBox="1"/>
          <p:nvPr/>
        </p:nvSpPr>
        <p:spPr>
          <a:xfrm>
            <a:off x="731520" y="219456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four-stage pipeline</a:t>
            </a:r>
            <a:endParaRPr lang="en-US" sz="21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dual-layer extraction</a:t>
            </a:r>
            <a:endParaRPr lang="en-US" sz="21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equivalence edges</a:t>
            </a:r>
            <a:endParaRPr lang="en-US" sz="21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graph-anchored questions</a:t>
            </a:r>
            <a:endParaRPr lang="en-US" sz="2100" dirty="0"/>
          </a:p>
        </p:txBody>
      </p:sp>
      <p:sp>
        <p:nvSpPr>
          <p:cNvPr id="38" name="Future card"/>
          <p:cNvSpPr/>
          <p:nvPr/>
        </p:nvSpPr>
        <p:spPr>
          <a:xfrm>
            <a:off x="6217920" y="1508760"/>
            <a:ext cx="548640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Future work</a:t>
            </a:r>
            <a:endParaRPr lang="en-US" sz="2400" dirty="0"/>
          </a:p>
        </p:txBody>
      </p:sp>
      <p:sp>
        <p:nvSpPr>
          <p:cNvPr id="40" name="Text"/>
          <p:cNvSpPr txBox="1"/>
          <p:nvPr/>
        </p:nvSpPr>
        <p:spPr>
          <a:xfrm>
            <a:off x="6492240" y="219456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check LLM extraction against annotated data</a:t>
            </a:r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HbA1c equivalence (adds NICE)</a:t>
            </a:r>
          </a:p>
          <a:p>
            <a:pPr marL="254000" indent="-2540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 err="1"/>
              <a:t>Docling</a:t>
            </a:r>
            <a:r>
              <a:rPr lang="en-US" sz="2000" dirty="0"/>
              <a:t> with GPU as parser</a:t>
            </a:r>
            <a:endParaRPr lang="en-US" sz="2100" dirty="0"/>
          </a:p>
          <a:p>
            <a:pPr marL="254000" indent="-254000" algn="l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larger review, another domain</a:t>
            </a:r>
            <a:endParaRPr lang="en-US" sz="2100" dirty="0"/>
          </a:p>
        </p:txBody>
      </p:sp>
      <p:sp>
        <p:nvSpPr>
          <p:cNvPr id="41" name="Tile"/>
          <p:cNvSpPr/>
          <p:nvPr/>
        </p:nvSpPr>
        <p:spPr>
          <a:xfrm>
            <a:off x="457200" y="5029200"/>
            <a:ext cx="2697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512064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2,503</a:t>
            </a:r>
            <a:endParaRPr lang="en-US" sz="36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571865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nodes</a:t>
            </a:r>
            <a:endParaRPr lang="en-US" sz="1400" dirty="0"/>
          </a:p>
        </p:txBody>
      </p:sp>
      <p:sp>
        <p:nvSpPr>
          <p:cNvPr id="44" name="Tile"/>
          <p:cNvSpPr/>
          <p:nvPr/>
        </p:nvSpPr>
        <p:spPr>
          <a:xfrm>
            <a:off x="3291840" y="5029200"/>
            <a:ext cx="2697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429000" y="512064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3,485</a:t>
            </a:r>
            <a:endParaRPr lang="en-US" sz="3600" dirty="0"/>
          </a:p>
        </p:txBody>
      </p:sp>
      <p:sp>
        <p:nvSpPr>
          <p:cNvPr id="46" name="Text 44"/>
          <p:cNvSpPr txBox="1"/>
          <p:nvPr/>
        </p:nvSpPr>
        <p:spPr>
          <a:xfrm>
            <a:off x="3429000" y="571865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edges</a:t>
            </a:r>
            <a:endParaRPr lang="en-US" sz="1400" dirty="0"/>
          </a:p>
        </p:txBody>
      </p:sp>
      <p:sp>
        <p:nvSpPr>
          <p:cNvPr id="47" name="Tile"/>
          <p:cNvSpPr/>
          <p:nvPr/>
        </p:nvSpPr>
        <p:spPr>
          <a:xfrm>
            <a:off x="6126480" y="5029200"/>
            <a:ext cx="26974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63640" y="5120640"/>
            <a:ext cx="24231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</a:t>
            </a:r>
            <a:endParaRPr lang="en-US" sz="3600" dirty="0"/>
          </a:p>
        </p:txBody>
      </p:sp>
      <p:sp>
        <p:nvSpPr>
          <p:cNvPr id="49" name="Text 47"/>
          <p:cNvSpPr txBox="1"/>
          <p:nvPr/>
        </p:nvSpPr>
        <p:spPr>
          <a:xfrm>
            <a:off x="6263640" y="5718658"/>
            <a:ext cx="242316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equivalence edges</a:t>
            </a:r>
            <a:endParaRPr lang="en-US" sz="1400" dirty="0"/>
          </a:p>
        </p:txBody>
      </p:sp>
      <p:sp>
        <p:nvSpPr>
          <p:cNvPr id="50" name="Tile"/>
          <p:cNvSpPr/>
          <p:nvPr/>
        </p:nvSpPr>
        <p:spPr>
          <a:xfrm>
            <a:off x="8961120" y="502920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098280" y="5120640"/>
            <a:ext cx="24688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1,280</a:t>
            </a:r>
            <a:endParaRPr lang="en-US" sz="3600" dirty="0"/>
          </a:p>
        </p:txBody>
      </p:sp>
      <p:sp>
        <p:nvSpPr>
          <p:cNvPr id="52" name="Text 50"/>
          <p:cNvSpPr txBox="1"/>
          <p:nvPr/>
        </p:nvSpPr>
        <p:spPr>
          <a:xfrm>
            <a:off x="9098280" y="5718658"/>
            <a:ext cx="246888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accepted questions</a:t>
            </a:r>
            <a:endParaRPr lang="en-US" sz="1400" dirty="0"/>
          </a:p>
        </p:txBody>
      </p:sp>
      <p:sp>
        <p:nvSpPr>
          <p:cNvPr id="54" name="Dot">
            <a:extLst>
              <a:ext uri="{FF2B5EF4-FFF2-40B4-BE49-F238E27FC236}">
                <a16:creationId xmlns:a16="http://schemas.microsoft.com/office/drawing/2014/main" id="{542A7CB6-6506-FF1C-552D-749EECF832CF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B8FA19F-1B30-8282-0DB9-A69FC280703A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55" name="Nav Wrap-up">
              <a:extLst>
                <a:ext uri="{FF2B5EF4-FFF2-40B4-BE49-F238E27FC236}">
                  <a16:creationId xmlns:a16="http://schemas.microsoft.com/office/drawing/2014/main" id="{C6CD3A09-EEBE-CEF7-D2BF-F24AD8D3442C}"/>
                </a:ext>
              </a:extLst>
            </p:cNvPr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Wrap-up</a:t>
              </a:r>
            </a:p>
          </p:txBody>
        </p:sp>
        <p:sp>
          <p:nvSpPr>
            <p:cNvPr id="57" name="Dot">
              <a:extLst>
                <a:ext uri="{FF2B5EF4-FFF2-40B4-BE49-F238E27FC236}">
                  <a16:creationId xmlns:a16="http://schemas.microsoft.com/office/drawing/2014/main" id="{4A5DFEAA-F2A3-D173-DF6D-91DB81F0BC90}"/>
                </a:ext>
              </a:extLst>
            </p:cNvPr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58" name="Dot">
              <a:extLst>
                <a:ext uri="{FF2B5EF4-FFF2-40B4-BE49-F238E27FC236}">
                  <a16:creationId xmlns:a16="http://schemas.microsoft.com/office/drawing/2014/main" id="{3E268BB1-271C-BEDA-D21E-94BDB3CD6018}"/>
                </a:ext>
              </a:extLst>
            </p:cNvPr>
            <p:cNvSpPr/>
            <p:nvPr/>
          </p:nvSpPr>
          <p:spPr>
            <a:xfrm>
              <a:off x="11015777" y="310896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Dot">
              <a:extLst>
                <a:ext uri="{FF2B5EF4-FFF2-40B4-BE49-F238E27FC236}">
                  <a16:creationId xmlns:a16="http://schemas.microsoft.com/office/drawing/2014/main" id="{409505ED-FEEA-14D7-7241-A8279133B7DC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38200" y="371475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you! Questions </a:t>
            </a:r>
            <a:endParaRPr lang="en-US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77182-E525-408A-AACF-EAE257A5AA37}"/>
              </a:ext>
            </a:extLst>
          </p:cNvPr>
          <p:cNvSpPr/>
          <p:nvPr/>
        </p:nvSpPr>
        <p:spPr>
          <a:xfrm>
            <a:off x="3619500" y="792390"/>
            <a:ext cx="4953000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B1. Schema rules for targets and Population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1" name="Nav Wrap-up"/>
          <p:cNvSpPr txBox="1"/>
          <p:nvPr/>
        </p:nvSpPr>
        <p:spPr>
          <a:xfrm>
            <a:off x="9751162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Wrap-up</a:t>
            </a:r>
            <a:endParaRPr lang="en-US" sz="1300" dirty="0"/>
          </a:p>
        </p:txBody>
      </p:sp>
      <p:sp>
        <p:nvSpPr>
          <p:cNvPr id="32" name="Dot"/>
          <p:cNvSpPr/>
          <p:nvPr/>
        </p:nvSpPr>
        <p:spPr>
          <a:xfrm>
            <a:off x="1083289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1101577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17 / 36</a:t>
            </a:r>
            <a:endParaRPr lang="en-US" sz="1200" dirty="0"/>
          </a:p>
        </p:txBody>
      </p:sp>
      <p:sp>
        <p:nvSpPr>
          <p:cNvPr id="35" name="Text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8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HAS_TARGET</a:t>
            </a:r>
            <a:r>
              <a:rPr lang="en-US" sz="2200" dirty="0">
                <a:solidFill>
                  <a:schemeClr val="tx1"/>
                </a:solidFill>
              </a:rPr>
              <a:t> only if the source names the condition (24 edges for 46 targets)</a:t>
            </a:r>
            <a:endParaRPr lang="en-US" sz="2200" dirty="0"/>
          </a:p>
          <a:p>
            <a:pPr marL="254000" indent="-254000" algn="l">
              <a:spcAft>
                <a:spcPts val="18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SPECIFIES_TARGET</a:t>
            </a:r>
            <a:r>
              <a:rPr lang="en-US" sz="2200" dirty="0">
                <a:solidFill>
                  <a:schemeClr val="tx1"/>
                </a:solidFill>
              </a:rPr>
              <a:t> needs a Recommendation or Table</a:t>
            </a:r>
            <a:endParaRPr lang="en-US" sz="2200" dirty="0"/>
          </a:p>
          <a:p>
            <a:pPr marL="254000" indent="-254000" algn="l">
              <a:spcAft>
                <a:spcPts val="18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MENTIONED_IN</a:t>
            </a:r>
            <a:r>
              <a:rPr lang="en-US" sz="2200" dirty="0">
                <a:solidFill>
                  <a:schemeClr val="tx1"/>
                </a:solidFill>
              </a:rPr>
              <a:t> created during normalisation</a:t>
            </a:r>
            <a:endParaRPr lang="en-US" sz="2200" dirty="0"/>
          </a:p>
          <a:p>
            <a:pPr marL="254000" indent="-254000" algn="l">
              <a:spcAft>
                <a:spcPts val="18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1"/>
                </a:solidFill>
              </a:rPr>
              <a:t>Population is structural</a:t>
            </a:r>
            <a:r>
              <a:rPr lang="en-US" sz="2200" dirty="0">
                <a:solidFill>
                  <a:schemeClr val="tx1"/>
                </a:solidFill>
              </a:rPr>
              <a:t>: “older adults” vs “aged 70 and older”, merging loses the source phrasing</a:t>
            </a:r>
            <a:endParaRPr lang="en-US" sz="2200" dirty="0"/>
          </a:p>
        </p:txBody>
      </p:sp>
      <p:sp>
        <p:nvSpPr>
          <p:cNvPr id="37" name="Dot">
            <a:extLst>
              <a:ext uri="{FF2B5EF4-FFF2-40B4-BE49-F238E27FC236}">
                <a16:creationId xmlns:a16="http://schemas.microsoft.com/office/drawing/2014/main" id="{A409D6B6-39B0-AD56-B864-3F417E6F906C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9" name="Dot">
            <a:extLst>
              <a:ext uri="{FF2B5EF4-FFF2-40B4-BE49-F238E27FC236}">
                <a16:creationId xmlns:a16="http://schemas.microsoft.com/office/drawing/2014/main" id="{E7EA9A1E-FFDD-C685-84AC-F92BA309165B}"/>
              </a:ext>
            </a:extLst>
          </p:cNvPr>
          <p:cNvSpPr/>
          <p:nvPr/>
        </p:nvSpPr>
        <p:spPr>
          <a:xfrm>
            <a:off x="10650017" y="313973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1" name="Dot">
            <a:extLst>
              <a:ext uri="{FF2B5EF4-FFF2-40B4-BE49-F238E27FC236}">
                <a16:creationId xmlns:a16="http://schemas.microsoft.com/office/drawing/2014/main" id="{857B5A7A-1B8C-8F81-307A-914933F73E61}"/>
              </a:ext>
            </a:extLst>
          </p:cNvPr>
          <p:cNvSpPr/>
          <p:nvPr/>
        </p:nvSpPr>
        <p:spPr>
          <a:xfrm>
            <a:off x="9131807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B2. What the evaluation shows</a:t>
            </a:r>
            <a:endParaRPr lang="en-US" sz="3000" dirty="0"/>
          </a:p>
        </p:txBody>
      </p:sp>
      <p:sp>
        <p:nvSpPr>
          <p:cNvPr id="3" name="Nav Motivation"/>
          <p:cNvSpPr txBox="1"/>
          <p:nvPr/>
        </p:nvSpPr>
        <p:spPr>
          <a:xfrm>
            <a:off x="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Motivation</a:t>
            </a:r>
            <a:endParaRPr lang="en-US" sz="1300" dirty="0"/>
          </a:p>
        </p:txBody>
      </p:sp>
      <p:sp>
        <p:nvSpPr>
          <p:cNvPr id="4" name="Dot"/>
          <p:cNvSpPr/>
          <p:nvPr/>
        </p:nvSpPr>
        <p:spPr>
          <a:xfrm>
            <a:off x="99029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17317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6" name="Dot"/>
          <p:cNvSpPr/>
          <p:nvPr/>
        </p:nvSpPr>
        <p:spPr>
          <a:xfrm>
            <a:off x="1356055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7" name="Nav Background"/>
          <p:cNvSpPr txBox="1"/>
          <p:nvPr/>
        </p:nvSpPr>
        <p:spPr>
          <a:xfrm>
            <a:off x="2437790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8" name="Dot"/>
          <p:cNvSpPr/>
          <p:nvPr/>
        </p:nvSpPr>
        <p:spPr>
          <a:xfrm>
            <a:off x="34280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9" name="Dot"/>
          <p:cNvSpPr/>
          <p:nvPr/>
        </p:nvSpPr>
        <p:spPr>
          <a:xfrm>
            <a:off x="36109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0" name="Dot"/>
          <p:cNvSpPr/>
          <p:nvPr/>
        </p:nvSpPr>
        <p:spPr>
          <a:xfrm>
            <a:off x="37938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1" name="Nav Approach"/>
          <p:cNvSpPr txBox="1"/>
          <p:nvPr/>
        </p:nvSpPr>
        <p:spPr>
          <a:xfrm>
            <a:off x="487558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Approach</a:t>
            </a:r>
            <a:endParaRPr lang="en-US" sz="1300" dirty="0"/>
          </a:p>
        </p:txBody>
      </p:sp>
      <p:sp>
        <p:nvSpPr>
          <p:cNvPr id="12" name="Dot"/>
          <p:cNvSpPr/>
          <p:nvPr/>
        </p:nvSpPr>
        <p:spPr>
          <a:xfrm>
            <a:off x="50429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3" name="Dot"/>
          <p:cNvSpPr/>
          <p:nvPr/>
        </p:nvSpPr>
        <p:spPr>
          <a:xfrm>
            <a:off x="52257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54086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55915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6" name="Dot"/>
          <p:cNvSpPr/>
          <p:nvPr/>
        </p:nvSpPr>
        <p:spPr>
          <a:xfrm>
            <a:off x="57744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59573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8" name="Dot"/>
          <p:cNvSpPr/>
          <p:nvPr/>
        </p:nvSpPr>
        <p:spPr>
          <a:xfrm>
            <a:off x="61401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32307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50595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668883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2" name="Dot"/>
          <p:cNvSpPr/>
          <p:nvPr/>
        </p:nvSpPr>
        <p:spPr>
          <a:xfrm>
            <a:off x="687171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705459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4" name="Nav Evaluation"/>
          <p:cNvSpPr txBox="1"/>
          <p:nvPr/>
        </p:nvSpPr>
        <p:spPr>
          <a:xfrm>
            <a:off x="7313371" y="27432"/>
            <a:ext cx="24377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A5AB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5" name="Dot"/>
          <p:cNvSpPr/>
          <p:nvPr/>
        </p:nvSpPr>
        <p:spPr>
          <a:xfrm>
            <a:off x="80293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6" name="Dot"/>
          <p:cNvSpPr/>
          <p:nvPr/>
        </p:nvSpPr>
        <p:spPr>
          <a:xfrm>
            <a:off x="821222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7" name="Dot"/>
          <p:cNvSpPr/>
          <p:nvPr/>
        </p:nvSpPr>
        <p:spPr>
          <a:xfrm>
            <a:off x="839510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8" name="Dot"/>
          <p:cNvSpPr/>
          <p:nvPr/>
        </p:nvSpPr>
        <p:spPr>
          <a:xfrm>
            <a:off x="857798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29" name="Dot"/>
          <p:cNvSpPr/>
          <p:nvPr/>
        </p:nvSpPr>
        <p:spPr>
          <a:xfrm>
            <a:off x="876086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0" name="Dot"/>
          <p:cNvSpPr/>
          <p:nvPr/>
        </p:nvSpPr>
        <p:spPr>
          <a:xfrm>
            <a:off x="8943746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34" name="Page number"/>
          <p:cNvSpPr txBox="1"/>
          <p:nvPr/>
        </p:nvSpPr>
        <p:spPr>
          <a:xfrm>
            <a:off x="10515600" y="649224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33 / 36</a:t>
            </a:r>
            <a:endParaRPr lang="en-US" sz="1200" dirty="0"/>
          </a:p>
        </p:txBody>
      </p:sp>
      <p:sp>
        <p:nvSpPr>
          <p:cNvPr id="40" name="Text"/>
          <p:cNvSpPr txBox="1"/>
          <p:nvPr/>
        </p:nvSpPr>
        <p:spPr>
          <a:xfrm>
            <a:off x="6492240" y="22860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400"/>
              </a:spcAft>
              <a:buSzPct val="100000"/>
              <a:buChar char="•"/>
            </a:pPr>
            <a:endParaRPr lang="en-US" sz="2100" dirty="0"/>
          </a:p>
        </p:txBody>
      </p:sp>
      <p:sp>
        <p:nvSpPr>
          <p:cNvPr id="42" name="Dot">
            <a:extLst>
              <a:ext uri="{FF2B5EF4-FFF2-40B4-BE49-F238E27FC236}">
                <a16:creationId xmlns:a16="http://schemas.microsoft.com/office/drawing/2014/main" id="{FEBF7B8C-8805-F43B-136D-EBBC89C304B7}"/>
              </a:ext>
            </a:extLst>
          </p:cNvPr>
          <p:cNvSpPr/>
          <p:nvPr/>
        </p:nvSpPr>
        <p:spPr>
          <a:xfrm>
            <a:off x="822960" y="310896"/>
            <a:ext cx="91440" cy="91440"/>
          </a:xfrm>
          <a:prstGeom prst="ellipse">
            <a:avLst/>
          </a:prstGeom>
          <a:solidFill>
            <a:srgbClr val="6E0A14"/>
          </a:solidFill>
          <a:ln w="9525">
            <a:solidFill>
              <a:srgbClr val="D9A5AB"/>
            </a:solidFill>
            <a:prstDash val="solid"/>
          </a:ln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A9A3C9-2B68-2D06-7418-B981CA55D15B}"/>
              </a:ext>
            </a:extLst>
          </p:cNvPr>
          <p:cNvSpPr txBox="1"/>
          <p:nvPr/>
        </p:nvSpPr>
        <p:spPr>
          <a:xfrm>
            <a:off x="457199" y="1499616"/>
            <a:ext cx="1046713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lvl="0" indent="-25400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Combines </a:t>
            </a:r>
            <a:r>
              <a:rPr lang="en-US" sz="2400" b="1" dirty="0">
                <a:solidFill>
                  <a:schemeClr val="accent1"/>
                </a:solidFill>
              </a:rPr>
              <a:t>diverse guidelines </a:t>
            </a:r>
            <a:r>
              <a:rPr lang="en-US" sz="2400" dirty="0"/>
              <a:t>into </a:t>
            </a:r>
            <a:r>
              <a:rPr lang="en-US" sz="2400" b="1" dirty="0">
                <a:solidFill>
                  <a:schemeClr val="accent1"/>
                </a:solidFill>
              </a:rPr>
              <a:t>one queryable graph</a:t>
            </a:r>
          </a:p>
          <a:p>
            <a:pPr marL="254000" lvl="0" indent="-25400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/>
                </a:solidFill>
              </a:rPr>
              <a:t>Normalisation</a:t>
            </a:r>
            <a:r>
              <a:rPr lang="en-US" sz="2400" dirty="0"/>
              <a:t> reveals cross-guideline links (</a:t>
            </a:r>
            <a:r>
              <a:rPr lang="en-US" sz="2400" b="1" dirty="0">
                <a:solidFill>
                  <a:schemeClr val="accent1"/>
                </a:solidFill>
              </a:rPr>
              <a:t>8 edges, 8 questions</a:t>
            </a:r>
            <a:r>
              <a:rPr lang="en-US" sz="2400" dirty="0"/>
              <a:t>)</a:t>
            </a:r>
          </a:p>
          <a:p>
            <a:pPr marL="254000" lvl="0" indent="-25400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Controlled generation: </a:t>
            </a:r>
            <a:r>
              <a:rPr lang="en-US" sz="2400" b="1" dirty="0">
                <a:solidFill>
                  <a:schemeClr val="accent1"/>
                </a:solidFill>
              </a:rPr>
              <a:t>fixed anchors, model phrasing, validator checks</a:t>
            </a:r>
          </a:p>
          <a:p>
            <a:pPr marL="254000" lvl="0" indent="-25400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Control ≠ correctness</a:t>
            </a:r>
            <a:r>
              <a:rPr lang="en-US" sz="2400" dirty="0"/>
              <a:t>: quality depends on the quality of the graph</a:t>
            </a:r>
          </a:p>
          <a:p>
            <a:pPr marL="254000" lvl="0" indent="-254000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/>
                </a:solidFill>
              </a:rPr>
              <a:t>Use</a:t>
            </a:r>
            <a:r>
              <a:rPr lang="en-US" sz="2400" dirty="0"/>
              <a:t>: comparison, lookup, educational questions, not a replacement for guidelines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ED1A8F-1AE3-25BB-89DF-BF3C617A1564}"/>
              </a:ext>
            </a:extLst>
          </p:cNvPr>
          <p:cNvGrpSpPr/>
          <p:nvPr/>
        </p:nvGrpSpPr>
        <p:grpSpPr>
          <a:xfrm>
            <a:off x="9751162" y="27432"/>
            <a:ext cx="2437790" cy="377981"/>
            <a:chOff x="9751162" y="27432"/>
            <a:chExt cx="2437790" cy="377981"/>
          </a:xfrm>
        </p:grpSpPr>
        <p:sp>
          <p:nvSpPr>
            <p:cNvPr id="37" name="Nav Wrap-up">
              <a:extLst>
                <a:ext uri="{FF2B5EF4-FFF2-40B4-BE49-F238E27FC236}">
                  <a16:creationId xmlns:a16="http://schemas.microsoft.com/office/drawing/2014/main" id="{9AC37AEA-A291-303C-55FA-1294169F5859}"/>
                </a:ext>
              </a:extLst>
            </p:cNvPr>
            <p:cNvSpPr txBox="1"/>
            <p:nvPr/>
          </p:nvSpPr>
          <p:spPr>
            <a:xfrm>
              <a:off x="9751162" y="27432"/>
              <a:ext cx="243779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</a:rPr>
                <a:t>Wrap-up</a:t>
              </a:r>
            </a:p>
          </p:txBody>
        </p:sp>
        <p:sp>
          <p:nvSpPr>
            <p:cNvPr id="38" name="Dot">
              <a:extLst>
                <a:ext uri="{FF2B5EF4-FFF2-40B4-BE49-F238E27FC236}">
                  <a16:creationId xmlns:a16="http://schemas.microsoft.com/office/drawing/2014/main" id="{DFF6484C-031E-0E3C-62D5-3614E81F74ED}"/>
                </a:ext>
              </a:extLst>
            </p:cNvPr>
            <p:cNvSpPr/>
            <p:nvPr/>
          </p:nvSpPr>
          <p:spPr>
            <a:xfrm>
              <a:off x="10832897" y="310896"/>
              <a:ext cx="91440" cy="91440"/>
            </a:xfrm>
            <a:prstGeom prst="ellipse">
              <a:avLst/>
            </a:prstGeom>
            <a:noFill/>
            <a:ln w="9525">
              <a:solidFill>
                <a:srgbClr val="D9A5AB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Dot">
              <a:extLst>
                <a:ext uri="{FF2B5EF4-FFF2-40B4-BE49-F238E27FC236}">
                  <a16:creationId xmlns:a16="http://schemas.microsoft.com/office/drawing/2014/main" id="{456E4104-55C3-44C9-0A78-E466D5E0E973}"/>
                </a:ext>
              </a:extLst>
            </p:cNvPr>
            <p:cNvSpPr/>
            <p:nvPr/>
          </p:nvSpPr>
          <p:spPr>
            <a:xfrm>
              <a:off x="11015777" y="310896"/>
              <a:ext cx="91440" cy="91440"/>
            </a:xfrm>
            <a:prstGeom prst="ellipse">
              <a:avLst/>
            </a:prstGeom>
            <a:solidFill>
              <a:srgbClr val="6E0A14"/>
            </a:solidFill>
            <a:ln w="9525">
              <a:solidFill>
                <a:srgbClr val="D9A5AB"/>
              </a:solidFill>
              <a:prstDash val="solid"/>
            </a:ln>
          </p:spPr>
        </p:sp>
        <p:sp>
          <p:nvSpPr>
            <p:cNvPr id="41" name="Dot">
              <a:extLst>
                <a:ext uri="{FF2B5EF4-FFF2-40B4-BE49-F238E27FC236}">
                  <a16:creationId xmlns:a16="http://schemas.microsoft.com/office/drawing/2014/main" id="{B8AA52AE-5542-16C6-59BF-D379B2871536}"/>
                </a:ext>
              </a:extLst>
            </p:cNvPr>
            <p:cNvSpPr/>
            <p:nvPr/>
          </p:nvSpPr>
          <p:spPr>
            <a:xfrm>
              <a:off x="10650017" y="313973"/>
              <a:ext cx="91440" cy="914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prstDash val="solid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uidelines to Questions">
  <a:themeElements>
    <a:clrScheme name="Guidelines to Questions">
      <a:dk1>
        <a:srgbClr val="222222"/>
      </a:dk1>
      <a:lt1>
        <a:srgbClr val="FFFFFF"/>
      </a:lt1>
      <a:dk2>
        <a:srgbClr val="6E0A14"/>
      </a:dk2>
      <a:lt2>
        <a:srgbClr val="F3F3F3"/>
      </a:lt2>
      <a:accent1>
        <a:srgbClr val="9A0F1E"/>
      </a:accent1>
      <a:accent2>
        <a:srgbClr val="5B6770"/>
      </a:accent2>
      <a:accent3>
        <a:srgbClr val="2E7D6B"/>
      </a:accent3>
      <a:accent4>
        <a:srgbClr val="C98A00"/>
      </a:accent4>
      <a:accent5>
        <a:srgbClr val="1F4E79"/>
      </a:accent5>
      <a:accent6>
        <a:srgbClr val="8C8C8C"/>
      </a:accent6>
      <a:hlink>
        <a:srgbClr val="9A0F1E"/>
      </a:hlink>
      <a:folHlink>
        <a:srgbClr val="6E0A14"/>
      </a:folHlink>
    </a:clrScheme>
    <a:fontScheme name="Guidelines to Ques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3514</TotalTime>
  <Words>2600</Words>
  <Application>Microsoft Office PowerPoint</Application>
  <PresentationFormat>Widescreen</PresentationFormat>
  <Paragraphs>740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 Math</vt:lpstr>
      <vt:lpstr>Courier New</vt:lpstr>
      <vt:lpstr>Garamond</vt:lpstr>
      <vt:lpstr>Guidelines to Questions</vt:lpstr>
      <vt:lpstr>From Guidelines to Questions: Knowledge Graph Construction and Question Generation from Clinical Practice Guidelines</vt:lpstr>
      <vt:lpstr>Outline</vt:lpstr>
      <vt:lpstr>Clinical practice guidelines: why they matter</vt:lpstr>
      <vt:lpstr>Same topic, four different answers</vt:lpstr>
      <vt:lpstr>Research gap and aims</vt:lpstr>
      <vt:lpstr>Key contributions</vt:lpstr>
      <vt:lpstr>Outline</vt:lpstr>
      <vt:lpstr>Knowledge graphs and the property graph</vt:lpstr>
      <vt:lpstr>LLMs: hallucination and grounding</vt:lpstr>
      <vt:lpstr>Related work and gap</vt:lpstr>
      <vt:lpstr>Outline</vt:lpstr>
      <vt:lpstr>Pipeline overview</vt:lpstr>
      <vt:lpstr>Challenges of a multi-guideline setting</vt:lpstr>
      <vt:lpstr>Corpus: 8 documents, 4 organisations</vt:lpstr>
      <vt:lpstr>Formal ingestion model</vt:lpstr>
      <vt:lpstr>Graph schema</vt:lpstr>
      <vt:lpstr>Dual-layer extraction</vt:lpstr>
      <vt:lpstr>Deduplication and integration</vt:lpstr>
      <vt:lpstr>Unit normalisation and equivalence</vt:lpstr>
      <vt:lpstr>Unit conversions</vt:lpstr>
      <vt:lpstr>Question generation: the graph decides what is asked</vt:lpstr>
      <vt:lpstr>Validation: three checks</vt:lpstr>
      <vt:lpstr>Outline</vt:lpstr>
      <vt:lpstr>Experimental setup</vt:lpstr>
      <vt:lpstr>Two question-generation runs</vt:lpstr>
      <vt:lpstr>The final graph</vt:lpstr>
      <vt:lpstr>Cross-guideline equivalence</vt:lpstr>
      <vt:lpstr>Generated questions</vt:lpstr>
      <vt:lpstr>Question types and methods</vt:lpstr>
      <vt:lpstr>Human clinical review</vt:lpstr>
      <vt:lpstr>Outline</vt:lpstr>
      <vt:lpstr>Limitations</vt:lpstr>
      <vt:lpstr>Conclusions and future work</vt:lpstr>
      <vt:lpstr>Thank you! Questions </vt:lpstr>
      <vt:lpstr>B1. Schema rules for targets and Population</vt:lpstr>
      <vt:lpstr>B2. What the evaluation shows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Guidelines to Questions</dc:title>
  <dc:subject>PptxGenJS Presentation</dc:subject>
  <dc:creator>Sushmitha Chandrakumar</dc:creator>
  <cp:lastModifiedBy>sushmitha chandrakumar</cp:lastModifiedBy>
  <cp:revision>4</cp:revision>
  <dcterms:created xsi:type="dcterms:W3CDTF">2026-10-22T14:39:59Z</dcterms:created>
  <dcterms:modified xsi:type="dcterms:W3CDTF">2026-10-30T10:50:32Z</dcterms:modified>
</cp:coreProperties>
</file>